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60" r:id="rId3"/>
    <p:sldId id="268" r:id="rId4"/>
    <p:sldId id="264" r:id="rId5"/>
    <p:sldId id="262" r:id="rId6"/>
    <p:sldId id="263" r:id="rId7"/>
    <p:sldId id="265" r:id="rId8"/>
    <p:sldId id="267" r:id="rId9"/>
    <p:sldId id="266" r:id="rId10"/>
    <p:sldId id="256" r:id="rId11"/>
    <p:sldId id="259" r:id="rId12"/>
    <p:sldId id="258" r:id="rId13"/>
    <p:sldId id="257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39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81C1D-CDBD-4B94-92C7-6195DF1EAE6F}" v="1" dt="2023-09-01T12:18:35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yoni Dutta" userId="20b4e7bb-bade-4821-8113-788948c67047" providerId="ADAL" clId="{0C881C1D-CDBD-4B94-92C7-6195DF1EAE6F}"/>
    <pc:docChg chg="modSld">
      <pc:chgData name="Shayoni Dutta" userId="20b4e7bb-bade-4821-8113-788948c67047" providerId="ADAL" clId="{0C881C1D-CDBD-4B94-92C7-6195DF1EAE6F}" dt="2023-09-01T12:18:43.266" v="3" actId="14100"/>
      <pc:docMkLst>
        <pc:docMk/>
      </pc:docMkLst>
      <pc:sldChg chg="addSp modSp mod">
        <pc:chgData name="Shayoni Dutta" userId="20b4e7bb-bade-4821-8113-788948c67047" providerId="ADAL" clId="{0C881C1D-CDBD-4B94-92C7-6195DF1EAE6F}" dt="2023-09-01T12:18:43.266" v="3" actId="14100"/>
        <pc:sldMkLst>
          <pc:docMk/>
          <pc:sldMk cId="13179112" sldId="268"/>
        </pc:sldMkLst>
        <pc:cxnChg chg="add mod">
          <ac:chgData name="Shayoni Dutta" userId="20b4e7bb-bade-4821-8113-788948c67047" providerId="ADAL" clId="{0C881C1D-CDBD-4B94-92C7-6195DF1EAE6F}" dt="2023-09-01T12:18:43.266" v="3" actId="14100"/>
          <ac:cxnSpMkLst>
            <pc:docMk/>
            <pc:sldMk cId="13179112" sldId="268"/>
            <ac:cxnSpMk id="2" creationId="{5BE4F5EF-58ED-06EC-65A0-11AB8AE06628}"/>
          </ac:cxnSpMkLst>
        </pc:cxnChg>
      </pc:sldChg>
    </pc:docChg>
  </pc:docChgLst>
  <pc:docChgLst>
    <pc:chgData name="Shayoni Dutta" userId="20b4e7bb-bade-4821-8113-788948c67047" providerId="ADAL" clId="{F9CC5809-9292-4AB0-8985-853A2ADEA3A9}"/>
    <pc:docChg chg="modSld">
      <pc:chgData name="Shayoni Dutta" userId="20b4e7bb-bade-4821-8113-788948c67047" providerId="ADAL" clId="{F9CC5809-9292-4AB0-8985-853A2ADEA3A9}" dt="2023-07-03T12:41:12.736" v="26" actId="1076"/>
      <pc:docMkLst>
        <pc:docMk/>
      </pc:docMkLst>
      <pc:sldChg chg="addSp modSp mod">
        <pc:chgData name="Shayoni Dutta" userId="20b4e7bb-bade-4821-8113-788948c67047" providerId="ADAL" clId="{F9CC5809-9292-4AB0-8985-853A2ADEA3A9}" dt="2023-07-03T12:40:10.683" v="25" actId="1076"/>
        <pc:sldMkLst>
          <pc:docMk/>
          <pc:sldMk cId="1072200026" sldId="260"/>
        </pc:sldMkLst>
        <pc:spChg chg="add mod">
          <ac:chgData name="Shayoni Dutta" userId="20b4e7bb-bade-4821-8113-788948c67047" providerId="ADAL" clId="{F9CC5809-9292-4AB0-8985-853A2ADEA3A9}" dt="2023-07-03T12:40:10.683" v="25" actId="1076"/>
          <ac:spMkLst>
            <pc:docMk/>
            <pc:sldMk cId="1072200026" sldId="260"/>
            <ac:spMk id="15" creationId="{64C1B440-52FB-E815-4BF1-E61A9FA4328B}"/>
          </ac:spMkLst>
        </pc:spChg>
      </pc:sldChg>
      <pc:sldChg chg="addSp modSp mod">
        <pc:chgData name="Shayoni Dutta" userId="20b4e7bb-bade-4821-8113-788948c67047" providerId="ADAL" clId="{F9CC5809-9292-4AB0-8985-853A2ADEA3A9}" dt="2023-07-03T12:41:12.736" v="26" actId="1076"/>
        <pc:sldMkLst>
          <pc:docMk/>
          <pc:sldMk cId="13179112" sldId="268"/>
        </pc:sldMkLst>
        <pc:spChg chg="add mod">
          <ac:chgData name="Shayoni Dutta" userId="20b4e7bb-bade-4821-8113-788948c67047" providerId="ADAL" clId="{F9CC5809-9292-4AB0-8985-853A2ADEA3A9}" dt="2023-07-03T12:36:47.301" v="5" actId="1076"/>
          <ac:spMkLst>
            <pc:docMk/>
            <pc:sldMk cId="13179112" sldId="268"/>
            <ac:spMk id="3" creationId="{37B7D51E-052B-2600-5406-AB46BE47885C}"/>
          </ac:spMkLst>
        </pc:spChg>
        <pc:spChg chg="add mod">
          <ac:chgData name="Shayoni Dutta" userId="20b4e7bb-bade-4821-8113-788948c67047" providerId="ADAL" clId="{F9CC5809-9292-4AB0-8985-853A2ADEA3A9}" dt="2023-07-03T12:37:03.718" v="9" actId="20577"/>
          <ac:spMkLst>
            <pc:docMk/>
            <pc:sldMk cId="13179112" sldId="268"/>
            <ac:spMk id="5" creationId="{51C95B6C-1F5F-03B5-EA4B-1709317BA4FB}"/>
          </ac:spMkLst>
        </pc:spChg>
        <pc:spChg chg="add mod">
          <ac:chgData name="Shayoni Dutta" userId="20b4e7bb-bade-4821-8113-788948c67047" providerId="ADAL" clId="{F9CC5809-9292-4AB0-8985-853A2ADEA3A9}" dt="2023-07-03T12:37:15.657" v="13" actId="20577"/>
          <ac:spMkLst>
            <pc:docMk/>
            <pc:sldMk cId="13179112" sldId="268"/>
            <ac:spMk id="6" creationId="{1B35E0F4-5FC3-0429-6CFA-F2D887FAFB8E}"/>
          </ac:spMkLst>
        </pc:spChg>
        <pc:spChg chg="mod">
          <ac:chgData name="Shayoni Dutta" userId="20b4e7bb-bade-4821-8113-788948c67047" providerId="ADAL" clId="{F9CC5809-9292-4AB0-8985-853A2ADEA3A9}" dt="2023-07-03T12:36:43.440" v="3" actId="1076"/>
          <ac:spMkLst>
            <pc:docMk/>
            <pc:sldMk cId="13179112" sldId="268"/>
            <ac:spMk id="267" creationId="{E7EB2B24-5040-B56F-A5BA-7690BE9ACD3B}"/>
          </ac:spMkLst>
        </pc:spChg>
        <pc:spChg chg="mod">
          <ac:chgData name="Shayoni Dutta" userId="20b4e7bb-bade-4821-8113-788948c67047" providerId="ADAL" clId="{F9CC5809-9292-4AB0-8985-853A2ADEA3A9}" dt="2023-07-03T12:41:12.736" v="26" actId="1076"/>
          <ac:spMkLst>
            <pc:docMk/>
            <pc:sldMk cId="13179112" sldId="268"/>
            <ac:spMk id="270" creationId="{7DE424F8-525F-2C80-C251-589158C050EE}"/>
          </ac:spMkLst>
        </pc:spChg>
        <pc:spChg chg="mod">
          <ac:chgData name="Shayoni Dutta" userId="20b4e7bb-bade-4821-8113-788948c67047" providerId="ADAL" clId="{F9CC5809-9292-4AB0-8985-853A2ADEA3A9}" dt="2023-07-03T12:28:31.727" v="0" actId="1076"/>
          <ac:spMkLst>
            <pc:docMk/>
            <pc:sldMk cId="13179112" sldId="268"/>
            <ac:spMk id="320" creationId="{2B651B22-0A6A-DAD0-4FFE-CA59AD4F64D5}"/>
          </ac:spMkLst>
        </pc:spChg>
        <pc:cxnChg chg="mod">
          <ac:chgData name="Shayoni Dutta" userId="20b4e7bb-bade-4821-8113-788948c67047" providerId="ADAL" clId="{F9CC5809-9292-4AB0-8985-853A2ADEA3A9}" dt="2023-07-03T12:36:40.872" v="2" actId="14100"/>
          <ac:cxnSpMkLst>
            <pc:docMk/>
            <pc:sldMk cId="13179112" sldId="268"/>
            <ac:cxnSpMk id="242" creationId="{0ABB16BF-2A6B-6153-760F-7E4BA95772B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F7B13-AF11-481A-989A-CFD5CE1CEE98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C1510-51E3-4CC8-8311-118020171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14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7AE6-72A4-084F-6035-581178970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EEA51-1477-B155-A82A-356A0C1D3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4C8FE-B3A0-089A-074E-4BCABF22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0C47-8716-440C-927C-4B7F19A2F1CB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A003F-A259-8F60-B115-3464CD8ED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60D85-C5CF-B9CF-16ED-DFAC5BCB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7423F-0531-4592-9A7E-142DC58E3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4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769E9-64EC-8188-5BE7-DDB78DF8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5E8F4-F9FF-BDDE-1C94-4F8769FC4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81FAC-5AF6-549C-A1C9-5E74FACE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0C47-8716-440C-927C-4B7F19A2F1CB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F72F6-2DF5-3365-6FCB-1D3878224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5F6E7-BB81-6D26-1E43-E8107095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7423F-0531-4592-9A7E-142DC58E3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11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AACA9-D041-2117-FA21-93121E287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5633B-B82F-A722-BF78-16F127105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422A0-878D-50A6-E90F-0B670C901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0C47-8716-440C-927C-4B7F19A2F1CB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49AC0-7CF6-8AD6-2816-5C33D4CA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C70CA-4C69-8766-2E44-00982CF2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7423F-0531-4592-9A7E-142DC58E3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25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9799-B5AD-DC94-7DAB-91861F3C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191CA-DAA3-6621-7A40-9CCC52D83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962C9-759B-BD37-9493-4C812B34A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2CDAA-6523-D055-E78E-246F4676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0C47-8716-440C-927C-4B7F19A2F1CB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7CFFE-3101-F038-8EE8-D8827383E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D969F-BEE0-41FD-DAF9-1ABCCE99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7423F-0531-4592-9A7E-142DC58E3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6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DE7B3-2058-4C9B-9B38-B3808DAB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A68F9-058D-F0FE-54CD-8CCA3FD52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4CA71-FBCA-3E60-9192-250D58971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E5F7F-45B4-8689-ACF5-4598D2E86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FD284-F8EF-DD1A-67A1-C263AF36A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8771AC-E69E-660E-ECCF-067A2EF9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0C47-8716-440C-927C-4B7F19A2F1CB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210D4-80F5-81C7-F852-DEB4A1C57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363A7-1A51-DBF7-A277-F3D9BC0A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7423F-0531-4592-9A7E-142DC58E3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92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EDF3-B020-6B13-C1AF-10D59F19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E9864-3575-91CE-D4A2-A47172807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0C47-8716-440C-927C-4B7F19A2F1CB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46E66-CB3B-6866-8953-07FA778A9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E7383-EC09-0002-C873-77BDA2C59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7423F-0531-4592-9A7E-142DC58E3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65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7275A2-D0FD-3D47-97A7-E654CFCB7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0C47-8716-440C-927C-4B7F19A2F1CB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98AFB7-BF97-7A24-A23F-6923F44DA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916-C055-7163-7B4C-0630D60F9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7423F-0531-4592-9A7E-142DC58E3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0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DEC4A-96A2-5B55-516F-59ED0DA67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6BA64-0919-7BF3-EDC2-45CBF948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42ABA-0CBB-81CD-45C9-A4B77A347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32185-944D-B1C2-1B80-7B5C015A3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0C47-8716-440C-927C-4B7F19A2F1CB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74824-CB8A-70CA-0877-B46C532BE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0C6F-7C6F-F447-9DFB-D5C50D9DC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7423F-0531-4592-9A7E-142DC58E3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35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BDD65-6882-ED57-A0DA-67F78A2A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83B115-6911-4DB9-BBB2-13131274B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309D4-F5AE-ABD8-B57E-7A9FAD516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1038B-B8E2-013B-6065-336BF733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0C47-8716-440C-927C-4B7F19A2F1CB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5DAB4-3327-EFE7-BA08-CB23C37DC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72F47-A248-3F0D-8480-2D025138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7423F-0531-4592-9A7E-142DC58E3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04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E0F85-EE60-80F7-5B18-E9163B64B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FD162-E2B6-C922-BA6A-466FC96C6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B60E5-3337-EC2D-CBBD-16DA3E0AE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0C47-8716-440C-927C-4B7F19A2F1CB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EB303-DAB3-3859-8D8F-80238DC03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2FB51-9F8D-9840-29A4-5D93A936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7423F-0531-4592-9A7E-142DC58E3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4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0D70B-C64E-5DFF-02F2-F7A6414D7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CEBD0-9B2E-CDAA-6EA3-38A6C2641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BA9CF-A573-A68B-C209-88581AD15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0C47-8716-440C-927C-4B7F19A2F1CB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92A4B-556B-451F-2C91-1D5285190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AB387-5143-BB54-B7E0-5BAC9FFC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7423F-0531-4592-9A7E-142DC58E3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37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913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lationa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15555" y="203033"/>
            <a:ext cx="395062" cy="1184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9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59E9-79CA-7255-7A18-43E631B64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02768-9D5B-A346-E34F-4BA229E83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C5328-A2CA-5695-9BB7-CF7B54793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0C47-8716-440C-927C-4B7F19A2F1CB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E13AD-7600-4335-2BA9-BC0D2DDA1A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45AE7-27C7-0A0D-D47F-4A2D63446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7423F-0531-4592-9A7E-142DC58E3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8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15555" y="203033"/>
            <a:ext cx="395062" cy="1184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0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360914" rtl="0" eaLnBrk="1" latinLnBrk="0" hangingPunct="1">
        <a:spcBef>
          <a:spcPct val="0"/>
        </a:spcBef>
        <a:buNone/>
        <a:defRPr sz="17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343" indent="-135343" algn="l" defTabSz="360914" rtl="0" eaLnBrk="1" latinLnBrk="0" hangingPunct="1">
        <a:spcBef>
          <a:spcPct val="20000"/>
        </a:spcBef>
        <a:buFont typeface="Arial" pitchFamily="34" charset="0"/>
        <a:buChar char="•"/>
        <a:defRPr sz="1263" kern="1200">
          <a:solidFill>
            <a:schemeClr val="tx1"/>
          </a:solidFill>
          <a:latin typeface="+mn-lt"/>
          <a:ea typeface="+mn-ea"/>
          <a:cs typeface="+mn-cs"/>
        </a:defRPr>
      </a:lvl1pPr>
      <a:lvl2pPr marL="293242" indent="-112786" algn="l" defTabSz="360914" rtl="0" eaLnBrk="1" latinLnBrk="0" hangingPunct="1">
        <a:spcBef>
          <a:spcPct val="20000"/>
        </a:spcBef>
        <a:buFont typeface="Arial" pitchFamily="34" charset="0"/>
        <a:buChar char="–"/>
        <a:defRPr sz="1105" kern="1200">
          <a:solidFill>
            <a:schemeClr val="tx1"/>
          </a:solidFill>
          <a:latin typeface="+mn-lt"/>
          <a:ea typeface="+mn-ea"/>
          <a:cs typeface="+mn-cs"/>
        </a:defRPr>
      </a:lvl2pPr>
      <a:lvl3pPr marL="451142" indent="-90228" algn="l" defTabSz="360914" rtl="0" eaLnBrk="1" latinLnBrk="0" hangingPunct="1">
        <a:spcBef>
          <a:spcPct val="20000"/>
        </a:spcBef>
        <a:buFont typeface="Arial" pitchFamily="34" charset="0"/>
        <a:buChar char="•"/>
        <a:defRPr sz="947" kern="1200">
          <a:solidFill>
            <a:schemeClr val="tx1"/>
          </a:solidFill>
          <a:latin typeface="+mn-lt"/>
          <a:ea typeface="+mn-ea"/>
          <a:cs typeface="+mn-cs"/>
        </a:defRPr>
      </a:lvl3pPr>
      <a:lvl4pPr marL="631599" indent="-90228" algn="l" defTabSz="360914" rtl="0" eaLnBrk="1" latinLnBrk="0" hangingPunct="1">
        <a:spcBef>
          <a:spcPct val="20000"/>
        </a:spcBef>
        <a:buFont typeface="Arial" pitchFamily="34" charset="0"/>
        <a:buChar char="–"/>
        <a:defRPr sz="789" kern="1200">
          <a:solidFill>
            <a:schemeClr val="tx1"/>
          </a:solidFill>
          <a:latin typeface="+mn-lt"/>
          <a:ea typeface="+mn-ea"/>
          <a:cs typeface="+mn-cs"/>
        </a:defRPr>
      </a:lvl4pPr>
      <a:lvl5pPr marL="812056" indent="-90228" algn="l" defTabSz="360914" rtl="0" eaLnBrk="1" latinLnBrk="0" hangingPunct="1">
        <a:spcBef>
          <a:spcPct val="20000"/>
        </a:spcBef>
        <a:buFont typeface="Arial" pitchFamily="34" charset="0"/>
        <a:buChar char="»"/>
        <a:defRPr sz="789" kern="1200">
          <a:solidFill>
            <a:schemeClr val="tx1"/>
          </a:solidFill>
          <a:latin typeface="+mn-lt"/>
          <a:ea typeface="+mn-ea"/>
          <a:cs typeface="+mn-cs"/>
        </a:defRPr>
      </a:lvl5pPr>
      <a:lvl6pPr marL="992513" indent="-90228" algn="l" defTabSz="360914" rtl="0" eaLnBrk="1" latinLnBrk="0" hangingPunct="1">
        <a:spcBef>
          <a:spcPct val="20000"/>
        </a:spcBef>
        <a:buFont typeface="Arial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6pPr>
      <a:lvl7pPr marL="1172969" indent="-90228" algn="l" defTabSz="360914" rtl="0" eaLnBrk="1" latinLnBrk="0" hangingPunct="1">
        <a:spcBef>
          <a:spcPct val="20000"/>
        </a:spcBef>
        <a:buFont typeface="Arial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7pPr>
      <a:lvl8pPr marL="1353426" indent="-90228" algn="l" defTabSz="360914" rtl="0" eaLnBrk="1" latinLnBrk="0" hangingPunct="1">
        <a:spcBef>
          <a:spcPct val="20000"/>
        </a:spcBef>
        <a:buFont typeface="Arial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8pPr>
      <a:lvl9pPr marL="1533883" indent="-90228" algn="l" defTabSz="360914" rtl="0" eaLnBrk="1" latinLnBrk="0" hangingPunct="1">
        <a:spcBef>
          <a:spcPct val="20000"/>
        </a:spcBef>
        <a:buFont typeface="Arial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914" rtl="0" eaLnBrk="1" latinLnBrk="0" hangingPunct="1">
        <a:defRPr sz="710" kern="1200">
          <a:solidFill>
            <a:schemeClr val="tx1"/>
          </a:solidFill>
          <a:latin typeface="+mn-lt"/>
          <a:ea typeface="+mn-ea"/>
          <a:cs typeface="+mn-cs"/>
        </a:defRPr>
      </a:lvl1pPr>
      <a:lvl2pPr marL="180457" algn="l" defTabSz="360914" rtl="0" eaLnBrk="1" latinLnBrk="0" hangingPunct="1">
        <a:defRPr sz="710" kern="1200">
          <a:solidFill>
            <a:schemeClr val="tx1"/>
          </a:solidFill>
          <a:latin typeface="+mn-lt"/>
          <a:ea typeface="+mn-ea"/>
          <a:cs typeface="+mn-cs"/>
        </a:defRPr>
      </a:lvl2pPr>
      <a:lvl3pPr marL="360914" algn="l" defTabSz="360914" rtl="0" eaLnBrk="1" latinLnBrk="0" hangingPunct="1">
        <a:defRPr sz="710" kern="1200">
          <a:solidFill>
            <a:schemeClr val="tx1"/>
          </a:solidFill>
          <a:latin typeface="+mn-lt"/>
          <a:ea typeface="+mn-ea"/>
          <a:cs typeface="+mn-cs"/>
        </a:defRPr>
      </a:lvl3pPr>
      <a:lvl4pPr marL="541371" algn="l" defTabSz="360914" rtl="0" eaLnBrk="1" latinLnBrk="0" hangingPunct="1">
        <a:defRPr sz="710" kern="1200">
          <a:solidFill>
            <a:schemeClr val="tx1"/>
          </a:solidFill>
          <a:latin typeface="+mn-lt"/>
          <a:ea typeface="+mn-ea"/>
          <a:cs typeface="+mn-cs"/>
        </a:defRPr>
      </a:lvl4pPr>
      <a:lvl5pPr marL="721827" algn="l" defTabSz="360914" rtl="0" eaLnBrk="1" latinLnBrk="0" hangingPunct="1">
        <a:defRPr sz="710" kern="1200">
          <a:solidFill>
            <a:schemeClr val="tx1"/>
          </a:solidFill>
          <a:latin typeface="+mn-lt"/>
          <a:ea typeface="+mn-ea"/>
          <a:cs typeface="+mn-cs"/>
        </a:defRPr>
      </a:lvl5pPr>
      <a:lvl6pPr marL="902284" algn="l" defTabSz="360914" rtl="0" eaLnBrk="1" latinLnBrk="0" hangingPunct="1">
        <a:defRPr sz="710" kern="1200">
          <a:solidFill>
            <a:schemeClr val="tx1"/>
          </a:solidFill>
          <a:latin typeface="+mn-lt"/>
          <a:ea typeface="+mn-ea"/>
          <a:cs typeface="+mn-cs"/>
        </a:defRPr>
      </a:lvl6pPr>
      <a:lvl7pPr marL="1082741" algn="l" defTabSz="360914" rtl="0" eaLnBrk="1" latinLnBrk="0" hangingPunct="1">
        <a:defRPr sz="710" kern="1200">
          <a:solidFill>
            <a:schemeClr val="tx1"/>
          </a:solidFill>
          <a:latin typeface="+mn-lt"/>
          <a:ea typeface="+mn-ea"/>
          <a:cs typeface="+mn-cs"/>
        </a:defRPr>
      </a:lvl7pPr>
      <a:lvl8pPr marL="1263198" algn="l" defTabSz="360914" rtl="0" eaLnBrk="1" latinLnBrk="0" hangingPunct="1">
        <a:defRPr sz="710" kern="1200">
          <a:solidFill>
            <a:schemeClr val="tx1"/>
          </a:solidFill>
          <a:latin typeface="+mn-lt"/>
          <a:ea typeface="+mn-ea"/>
          <a:cs typeface="+mn-cs"/>
        </a:defRPr>
      </a:lvl8pPr>
      <a:lvl9pPr marL="1443655" algn="l" defTabSz="360914" rtl="0" eaLnBrk="1" latinLnBrk="0" hangingPunct="1">
        <a:defRPr sz="7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07A68BFC-8CEA-BD90-95F0-B6DF2BD52AF3}"/>
              </a:ext>
            </a:extLst>
          </p:cNvPr>
          <p:cNvSpPr/>
          <p:nvPr/>
        </p:nvSpPr>
        <p:spPr>
          <a:xfrm>
            <a:off x="4683030" y="2657348"/>
            <a:ext cx="3279943" cy="359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6B64980-5A0C-51C2-8452-BAE7DBF7708A}"/>
              </a:ext>
            </a:extLst>
          </p:cNvPr>
          <p:cNvSpPr/>
          <p:nvPr/>
        </p:nvSpPr>
        <p:spPr>
          <a:xfrm rot="19263541">
            <a:off x="3727163" y="1013678"/>
            <a:ext cx="2530569" cy="6748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6470889-E9B9-A31B-A3BC-CC256C42422E}"/>
              </a:ext>
            </a:extLst>
          </p:cNvPr>
          <p:cNvSpPr/>
          <p:nvPr/>
        </p:nvSpPr>
        <p:spPr>
          <a:xfrm>
            <a:off x="2414028" y="1594823"/>
            <a:ext cx="4496318" cy="1061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2B27B7A-BBB3-E603-27F0-8B78C06EA21F}"/>
              </a:ext>
            </a:extLst>
          </p:cNvPr>
          <p:cNvSpPr/>
          <p:nvPr/>
        </p:nvSpPr>
        <p:spPr>
          <a:xfrm>
            <a:off x="2189785" y="2472541"/>
            <a:ext cx="3525163" cy="754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7848102-D8F3-55C3-E697-7856B92BCF9B}"/>
              </a:ext>
            </a:extLst>
          </p:cNvPr>
          <p:cNvSpPr/>
          <p:nvPr/>
        </p:nvSpPr>
        <p:spPr>
          <a:xfrm>
            <a:off x="2022526" y="3463876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Pain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8D1F42-BD1C-FB66-3E58-096F0BB5C947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590084" y="2014189"/>
            <a:ext cx="1" cy="1449687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1F501C-34A0-57AA-4989-36AC27B526A1}"/>
              </a:ext>
            </a:extLst>
          </p:cNvPr>
          <p:cNvCxnSpPr>
            <a:cxnSpLocks/>
          </p:cNvCxnSpPr>
          <p:nvPr/>
        </p:nvCxnSpPr>
        <p:spPr>
          <a:xfrm flipH="1">
            <a:off x="2590083" y="4315214"/>
            <a:ext cx="1" cy="49819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191D7CD-BC61-0422-726B-063C427DE77A}"/>
              </a:ext>
            </a:extLst>
          </p:cNvPr>
          <p:cNvSpPr/>
          <p:nvPr/>
        </p:nvSpPr>
        <p:spPr>
          <a:xfrm>
            <a:off x="7766668" y="3772536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Tissue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(insensitive)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F5F880-85EE-A228-FE01-C1CC00E319A0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690472" y="3386152"/>
            <a:ext cx="643755" cy="386384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D36AC76-64F2-46EC-2375-BEC36F1178E2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8334227" y="4623874"/>
            <a:ext cx="0" cy="26343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F5C74B-A95B-48F6-9173-69ABC955FC1F}"/>
              </a:ext>
            </a:extLst>
          </p:cNvPr>
          <p:cNvSpPr/>
          <p:nvPr/>
        </p:nvSpPr>
        <p:spPr>
          <a:xfrm>
            <a:off x="2334102" y="5916366"/>
            <a:ext cx="2617076" cy="85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Outcome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D5CF04B-FDA3-5469-0FB0-1209F7EE57D7}"/>
              </a:ext>
            </a:extLst>
          </p:cNvPr>
          <p:cNvCxnSpPr>
            <a:stCxn id="4" idx="5"/>
            <a:endCxn id="14" idx="0"/>
          </p:cNvCxnSpPr>
          <p:nvPr/>
        </p:nvCxnSpPr>
        <p:spPr>
          <a:xfrm>
            <a:off x="2991409" y="4190538"/>
            <a:ext cx="651231" cy="1725828"/>
          </a:xfrm>
          <a:prstGeom prst="straightConnector1">
            <a:avLst/>
          </a:prstGeom>
          <a:ln w="254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37332A-79BA-3142-7875-88F1D6FE709E}"/>
              </a:ext>
            </a:extLst>
          </p:cNvPr>
          <p:cNvCxnSpPr>
            <a:cxnSpLocks/>
          </p:cNvCxnSpPr>
          <p:nvPr/>
        </p:nvCxnSpPr>
        <p:spPr>
          <a:xfrm flipH="1">
            <a:off x="5340219" y="4225301"/>
            <a:ext cx="1555871" cy="1835433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322FEF25-FD75-2A59-CFF7-CBBAA8BEB1AC}"/>
              </a:ext>
            </a:extLst>
          </p:cNvPr>
          <p:cNvSpPr/>
          <p:nvPr/>
        </p:nvSpPr>
        <p:spPr>
          <a:xfrm>
            <a:off x="4772069" y="2543751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IGF1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DE4DB1-27B7-3F40-D4DD-B931A531A82E}"/>
              </a:ext>
            </a:extLst>
          </p:cNvPr>
          <p:cNvSpPr/>
          <p:nvPr/>
        </p:nvSpPr>
        <p:spPr>
          <a:xfrm>
            <a:off x="5589487" y="560004"/>
            <a:ext cx="817418" cy="59574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PAPPA2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B12E55A-5B7A-E448-BBD8-F66DA5EB7A70}"/>
              </a:ext>
            </a:extLst>
          </p:cNvPr>
          <p:cNvCxnSpPr>
            <a:cxnSpLocks/>
            <a:stCxn id="20" idx="2"/>
            <a:endCxn id="72" idx="6"/>
          </p:cNvCxnSpPr>
          <p:nvPr/>
        </p:nvCxnSpPr>
        <p:spPr>
          <a:xfrm flipH="1" flipV="1">
            <a:off x="2666281" y="2841623"/>
            <a:ext cx="2105788" cy="1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568FC11-853A-8636-A244-17E7DF039564}"/>
              </a:ext>
            </a:extLst>
          </p:cNvPr>
          <p:cNvCxnSpPr>
            <a:cxnSpLocks/>
            <a:stCxn id="20" idx="6"/>
            <a:endCxn id="70" idx="2"/>
          </p:cNvCxnSpPr>
          <p:nvPr/>
        </p:nvCxnSpPr>
        <p:spPr>
          <a:xfrm>
            <a:off x="5589487" y="2841624"/>
            <a:ext cx="1927322" cy="14007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FC48AC4-1681-5818-D20D-98A27EDDECC8}"/>
              </a:ext>
            </a:extLst>
          </p:cNvPr>
          <p:cNvSpPr/>
          <p:nvPr/>
        </p:nvSpPr>
        <p:spPr>
          <a:xfrm>
            <a:off x="3304072" y="1121744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IGF1-BP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EA5746-2A0D-2ADB-CF19-5165480A0648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3712781" y="523616"/>
            <a:ext cx="0" cy="59812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86F9FF-CB90-8B21-EDD5-0FFEFB0480BD}"/>
              </a:ext>
            </a:extLst>
          </p:cNvPr>
          <p:cNvCxnSpPr>
            <a:cxnSpLocks/>
          </p:cNvCxnSpPr>
          <p:nvPr/>
        </p:nvCxnSpPr>
        <p:spPr>
          <a:xfrm>
            <a:off x="5981043" y="193964"/>
            <a:ext cx="0" cy="36604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3E1F3CE-13C0-2C8A-3AC5-1B7FEDF51223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3712781" y="1717489"/>
            <a:ext cx="0" cy="583561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1841E0B-8C3C-E99C-B611-6A04D472BB57}"/>
              </a:ext>
            </a:extLst>
          </p:cNvPr>
          <p:cNvCxnSpPr>
            <a:cxnSpLocks/>
          </p:cNvCxnSpPr>
          <p:nvPr/>
        </p:nvCxnSpPr>
        <p:spPr>
          <a:xfrm>
            <a:off x="5981043" y="1159140"/>
            <a:ext cx="0" cy="55834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E91870F-B10E-F3BF-88A6-2F5C82DFE6FD}"/>
              </a:ext>
            </a:extLst>
          </p:cNvPr>
          <p:cNvCxnSpPr>
            <a:cxnSpLocks/>
            <a:stCxn id="21" idx="2"/>
            <a:endCxn id="67" idx="7"/>
          </p:cNvCxnSpPr>
          <p:nvPr/>
        </p:nvCxnSpPr>
        <p:spPr>
          <a:xfrm flipH="1">
            <a:off x="4312869" y="857877"/>
            <a:ext cx="1276618" cy="1018709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7ACF73-6D0A-E823-81D2-385CB6CD17D9}"/>
              </a:ext>
            </a:extLst>
          </p:cNvPr>
          <p:cNvCxnSpPr>
            <a:cxnSpLocks/>
          </p:cNvCxnSpPr>
          <p:nvPr/>
        </p:nvCxnSpPr>
        <p:spPr>
          <a:xfrm>
            <a:off x="5176372" y="3139496"/>
            <a:ext cx="0" cy="55834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AE7AB1-354C-57EE-A046-47E5DF0C0298}"/>
              </a:ext>
            </a:extLst>
          </p:cNvPr>
          <p:cNvCxnSpPr>
            <a:cxnSpLocks/>
            <a:stCxn id="29" idx="5"/>
            <a:endCxn id="20" idx="1"/>
          </p:cNvCxnSpPr>
          <p:nvPr/>
        </p:nvCxnSpPr>
        <p:spPr>
          <a:xfrm>
            <a:off x="4001782" y="1630244"/>
            <a:ext cx="889995" cy="1000752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A309D12-311C-85A1-B3FF-366FCF965080}"/>
              </a:ext>
            </a:extLst>
          </p:cNvPr>
          <p:cNvCxnSpPr>
            <a:cxnSpLocks/>
          </p:cNvCxnSpPr>
          <p:nvPr/>
        </p:nvCxnSpPr>
        <p:spPr>
          <a:xfrm>
            <a:off x="5155352" y="1945623"/>
            <a:ext cx="0" cy="59812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168D640A-7159-5ADC-01F6-11FEC796F5E5}"/>
              </a:ext>
            </a:extLst>
          </p:cNvPr>
          <p:cNvSpPr>
            <a:spLocks noChangeAspect="1"/>
          </p:cNvSpPr>
          <p:nvPr/>
        </p:nvSpPr>
        <p:spPr>
          <a:xfrm>
            <a:off x="4182792" y="1853821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D5577E2-D8F1-F394-782B-0308B15BB43E}"/>
              </a:ext>
            </a:extLst>
          </p:cNvPr>
          <p:cNvSpPr>
            <a:spLocks noChangeAspect="1"/>
          </p:cNvSpPr>
          <p:nvPr/>
        </p:nvSpPr>
        <p:spPr>
          <a:xfrm>
            <a:off x="2513886" y="2763899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8D4F248-562E-66BB-CCBB-2403898D606A}"/>
              </a:ext>
            </a:extLst>
          </p:cNvPr>
          <p:cNvSpPr/>
          <p:nvPr/>
        </p:nvSpPr>
        <p:spPr>
          <a:xfrm>
            <a:off x="8759911" y="564302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PAPPA2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35F3B8C-1F8D-1F50-3A75-F3F408E08505}"/>
              </a:ext>
            </a:extLst>
          </p:cNvPr>
          <p:cNvCxnSpPr>
            <a:stCxn id="21" idx="6"/>
            <a:endCxn id="75" idx="2"/>
          </p:cNvCxnSpPr>
          <p:nvPr/>
        </p:nvCxnSpPr>
        <p:spPr>
          <a:xfrm>
            <a:off x="6406905" y="857877"/>
            <a:ext cx="2353006" cy="4298"/>
          </a:xfrm>
          <a:prstGeom prst="straightConnector1">
            <a:avLst/>
          </a:prstGeom>
          <a:ln w="254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1614A83-D729-B02A-53E8-79BBB4E4A831}"/>
              </a:ext>
            </a:extLst>
          </p:cNvPr>
          <p:cNvSpPr txBox="1"/>
          <p:nvPr/>
        </p:nvSpPr>
        <p:spPr>
          <a:xfrm>
            <a:off x="8160566" y="376984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F14E450-7B90-736C-BFAF-A3530BD096B8}"/>
              </a:ext>
            </a:extLst>
          </p:cNvPr>
          <p:cNvSpPr txBox="1"/>
          <p:nvPr/>
        </p:nvSpPr>
        <p:spPr>
          <a:xfrm>
            <a:off x="9265759" y="342348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Y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0C299D5-F9D3-2802-DB2D-6331C13614A3}"/>
              </a:ext>
            </a:extLst>
          </p:cNvPr>
          <p:cNvCxnSpPr>
            <a:cxnSpLocks/>
          </p:cNvCxnSpPr>
          <p:nvPr/>
        </p:nvCxnSpPr>
        <p:spPr>
          <a:xfrm>
            <a:off x="9168620" y="1159140"/>
            <a:ext cx="0" cy="55834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09D20C30-B172-8163-2881-882DBEED2854}"/>
              </a:ext>
            </a:extLst>
          </p:cNvPr>
          <p:cNvSpPr/>
          <p:nvPr/>
        </p:nvSpPr>
        <p:spPr>
          <a:xfrm>
            <a:off x="9265759" y="2265341"/>
            <a:ext cx="1389687" cy="462686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Estrogen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626D3E6-A3AB-5134-A917-CD65E9FE772A}"/>
              </a:ext>
            </a:extLst>
          </p:cNvPr>
          <p:cNvSpPr/>
          <p:nvPr/>
        </p:nvSpPr>
        <p:spPr>
          <a:xfrm>
            <a:off x="9265758" y="3252338"/>
            <a:ext cx="1389687" cy="462686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Progesterone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240F20B-1128-76B2-AD6E-6F33EE8681C0}"/>
              </a:ext>
            </a:extLst>
          </p:cNvPr>
          <p:cNvCxnSpPr>
            <a:stCxn id="102" idx="3"/>
            <a:endCxn id="103" idx="1"/>
          </p:cNvCxnSpPr>
          <p:nvPr/>
        </p:nvCxnSpPr>
        <p:spPr>
          <a:xfrm flipH="1">
            <a:off x="9469273" y="2660268"/>
            <a:ext cx="1" cy="659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E3E048D-4E2F-06F6-8693-B7278E3934E6}"/>
              </a:ext>
            </a:extLst>
          </p:cNvPr>
          <p:cNvCxnSpPr>
            <a:cxnSpLocks/>
            <a:stCxn id="103" idx="7"/>
            <a:endCxn id="102" idx="5"/>
          </p:cNvCxnSpPr>
          <p:nvPr/>
        </p:nvCxnSpPr>
        <p:spPr>
          <a:xfrm flipV="1">
            <a:off x="10451930" y="2660268"/>
            <a:ext cx="1" cy="6598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9AE2F7E-A68C-34E5-582A-A73CA8495A44}"/>
              </a:ext>
            </a:extLst>
          </p:cNvPr>
          <p:cNvCxnSpPr>
            <a:cxnSpLocks/>
          </p:cNvCxnSpPr>
          <p:nvPr/>
        </p:nvCxnSpPr>
        <p:spPr>
          <a:xfrm flipH="1" flipV="1">
            <a:off x="7598628" y="2497115"/>
            <a:ext cx="1667130" cy="2743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966E026F-3469-3886-1556-F1A5C7D6E189}"/>
              </a:ext>
            </a:extLst>
          </p:cNvPr>
          <p:cNvSpPr>
            <a:spLocks noChangeAspect="1"/>
          </p:cNvSpPr>
          <p:nvPr/>
        </p:nvSpPr>
        <p:spPr>
          <a:xfrm>
            <a:off x="10375732" y="2582544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4955DBB-A069-3470-CA7D-0D45BB3EB328}"/>
              </a:ext>
            </a:extLst>
          </p:cNvPr>
          <p:cNvSpPr/>
          <p:nvPr/>
        </p:nvSpPr>
        <p:spPr>
          <a:xfrm>
            <a:off x="9053946" y="2009269"/>
            <a:ext cx="1870096" cy="20085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7F80AB5-1BDE-C8DD-1760-40DDA7B43866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5589487" y="2841624"/>
            <a:ext cx="3676271" cy="622755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C1B09548-EF0D-478F-CB73-6105B1F56A82}"/>
              </a:ext>
            </a:extLst>
          </p:cNvPr>
          <p:cNvSpPr>
            <a:spLocks noChangeAspect="1"/>
          </p:cNvSpPr>
          <p:nvPr/>
        </p:nvSpPr>
        <p:spPr>
          <a:xfrm>
            <a:off x="9197835" y="3386152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23098A3E-D67F-0CE0-965E-EC079F79243C}"/>
              </a:ext>
            </a:extLst>
          </p:cNvPr>
          <p:cNvCxnSpPr>
            <a:cxnSpLocks/>
            <a:stCxn id="140" idx="2"/>
            <a:endCxn id="4" idx="6"/>
          </p:cNvCxnSpPr>
          <p:nvPr/>
        </p:nvCxnSpPr>
        <p:spPr>
          <a:xfrm flipH="1" flipV="1">
            <a:off x="3157643" y="3889545"/>
            <a:ext cx="3183172" cy="31606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FA7BE630-B2FB-FCB1-1D56-5345B3DD8DC2}"/>
              </a:ext>
            </a:extLst>
          </p:cNvPr>
          <p:cNvSpPr/>
          <p:nvPr/>
        </p:nvSpPr>
        <p:spPr>
          <a:xfrm>
            <a:off x="7680268" y="6006662"/>
            <a:ext cx="2617076" cy="85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Infertility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014DCCDD-6190-CE9E-C5BB-54D5C6BF0EC3}"/>
              </a:ext>
            </a:extLst>
          </p:cNvPr>
          <p:cNvCxnSpPr>
            <a:cxnSpLocks/>
            <a:stCxn id="11" idx="5"/>
            <a:endCxn id="133" idx="0"/>
          </p:cNvCxnSpPr>
          <p:nvPr/>
        </p:nvCxnSpPr>
        <p:spPr>
          <a:xfrm>
            <a:off x="8735551" y="4499198"/>
            <a:ext cx="253255" cy="150746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BA5087CA-1FB2-F8DD-1FFD-5C62111A5565}"/>
              </a:ext>
            </a:extLst>
          </p:cNvPr>
          <p:cNvSpPr/>
          <p:nvPr/>
        </p:nvSpPr>
        <p:spPr>
          <a:xfrm>
            <a:off x="6340815" y="3779940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Tissue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(sensitive)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E786A529-972C-91AD-4D6E-228DEF6BB795}"/>
              </a:ext>
            </a:extLst>
          </p:cNvPr>
          <p:cNvCxnSpPr>
            <a:cxnSpLocks/>
            <a:stCxn id="140" idx="4"/>
          </p:cNvCxnSpPr>
          <p:nvPr/>
        </p:nvCxnSpPr>
        <p:spPr>
          <a:xfrm>
            <a:off x="6908374" y="4631278"/>
            <a:ext cx="0" cy="256032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D159C283-E4ED-1EA6-5E52-8E08B5F9FCF5}"/>
              </a:ext>
            </a:extLst>
          </p:cNvPr>
          <p:cNvCxnSpPr>
            <a:cxnSpLocks/>
            <a:endCxn id="140" idx="0"/>
          </p:cNvCxnSpPr>
          <p:nvPr/>
        </p:nvCxnSpPr>
        <p:spPr>
          <a:xfrm flipH="1">
            <a:off x="6908374" y="3386152"/>
            <a:ext cx="697626" cy="39378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965F3ED2-E8E4-3E87-C1FC-8CCBB93B8E54}"/>
              </a:ext>
            </a:extLst>
          </p:cNvPr>
          <p:cNvCxnSpPr>
            <a:cxnSpLocks/>
            <a:stCxn id="140" idx="5"/>
            <a:endCxn id="133" idx="0"/>
          </p:cNvCxnSpPr>
          <p:nvPr/>
        </p:nvCxnSpPr>
        <p:spPr>
          <a:xfrm>
            <a:off x="7309698" y="4506602"/>
            <a:ext cx="1679108" cy="150006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97BE18CA-AAD4-93B0-B974-B053E6674FBB}"/>
              </a:ext>
            </a:extLst>
          </p:cNvPr>
          <p:cNvCxnSpPr>
            <a:cxnSpLocks/>
            <a:stCxn id="11" idx="3"/>
            <a:endCxn id="14" idx="3"/>
          </p:cNvCxnSpPr>
          <p:nvPr/>
        </p:nvCxnSpPr>
        <p:spPr>
          <a:xfrm flipH="1">
            <a:off x="4951178" y="4499198"/>
            <a:ext cx="2981724" cy="1842837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0AEBCF86-910E-EB6D-B833-AADEDAD09E63}"/>
              </a:ext>
            </a:extLst>
          </p:cNvPr>
          <p:cNvCxnSpPr>
            <a:cxnSpLocks/>
          </p:cNvCxnSpPr>
          <p:nvPr/>
        </p:nvCxnSpPr>
        <p:spPr>
          <a:xfrm>
            <a:off x="7598627" y="1725858"/>
            <a:ext cx="47492" cy="1707711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2CAA874B-8FA3-0A63-F752-5DC14D15A99D}"/>
              </a:ext>
            </a:extLst>
          </p:cNvPr>
          <p:cNvSpPr/>
          <p:nvPr/>
        </p:nvSpPr>
        <p:spPr>
          <a:xfrm>
            <a:off x="2448433" y="451898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BP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1C9D511-1762-0AAF-1178-53142DB09340}"/>
              </a:ext>
            </a:extLst>
          </p:cNvPr>
          <p:cNvSpPr txBox="1"/>
          <p:nvPr/>
        </p:nvSpPr>
        <p:spPr>
          <a:xfrm>
            <a:off x="5099598" y="3290642"/>
            <a:ext cx="1080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T1/2 &lt;10 mins</a:t>
            </a:r>
          </a:p>
          <a:p>
            <a:r>
              <a:rPr lang="en-US" sz="1200" dirty="0"/>
              <a:t>10-30 min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E2B5C70-0B6F-FB70-6D56-3A03BC3E3AF5}"/>
              </a:ext>
            </a:extLst>
          </p:cNvPr>
          <p:cNvSpPr txBox="1"/>
          <p:nvPr/>
        </p:nvSpPr>
        <p:spPr>
          <a:xfrm>
            <a:off x="2706229" y="1848675"/>
            <a:ext cx="1334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Days ?</a:t>
            </a:r>
          </a:p>
          <a:p>
            <a:r>
              <a:rPr lang="en-US" sz="1200" dirty="0"/>
              <a:t>Ternary complex has t1/2 of 16 h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A81F972-DA7B-8303-2655-62C84184A68E}"/>
              </a:ext>
            </a:extLst>
          </p:cNvPr>
          <p:cNvSpPr>
            <a:spLocks noChangeAspect="1"/>
          </p:cNvSpPr>
          <p:nvPr/>
        </p:nvSpPr>
        <p:spPr>
          <a:xfrm>
            <a:off x="7516809" y="2777907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9B656943-6D95-FBA4-B1CB-523D6AF7ADFE}"/>
              </a:ext>
            </a:extLst>
          </p:cNvPr>
          <p:cNvSpPr>
            <a:spLocks noChangeAspect="1"/>
          </p:cNvSpPr>
          <p:nvPr/>
        </p:nvSpPr>
        <p:spPr>
          <a:xfrm>
            <a:off x="7507210" y="2416318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DF78D94E-2DAA-268D-B6BD-18B18C773AA3}"/>
              </a:ext>
            </a:extLst>
          </p:cNvPr>
          <p:cNvSpPr/>
          <p:nvPr/>
        </p:nvSpPr>
        <p:spPr>
          <a:xfrm>
            <a:off x="6369752" y="1822914"/>
            <a:ext cx="817418" cy="59574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SLC7A3</a:t>
            </a: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1226FBA-1726-6D84-AF74-5C9644E7AFEA}"/>
              </a:ext>
            </a:extLst>
          </p:cNvPr>
          <p:cNvCxnSpPr>
            <a:cxnSpLocks/>
            <a:stCxn id="170" idx="6"/>
          </p:cNvCxnSpPr>
          <p:nvPr/>
        </p:nvCxnSpPr>
        <p:spPr>
          <a:xfrm>
            <a:off x="7187170" y="2120787"/>
            <a:ext cx="418830" cy="8307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Oval 172">
            <a:extLst>
              <a:ext uri="{FF2B5EF4-FFF2-40B4-BE49-F238E27FC236}">
                <a16:creationId xmlns:a16="http://schemas.microsoft.com/office/drawing/2014/main" id="{030F795F-23E0-569E-8085-35BCAFBC2219}"/>
              </a:ext>
            </a:extLst>
          </p:cNvPr>
          <p:cNvSpPr>
            <a:spLocks noChangeAspect="1"/>
          </p:cNvSpPr>
          <p:nvPr/>
        </p:nvSpPr>
        <p:spPr>
          <a:xfrm>
            <a:off x="7527873" y="2056056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3D257BFC-545E-1ABD-6D20-987F3D565760}"/>
              </a:ext>
            </a:extLst>
          </p:cNvPr>
          <p:cNvSpPr/>
          <p:nvPr/>
        </p:nvSpPr>
        <p:spPr>
          <a:xfrm>
            <a:off x="4253478" y="4495260"/>
            <a:ext cx="1059988" cy="845356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Nox,pip3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ABAB7C3D-5C1C-B3E0-5B14-CF8F027BF8B6}"/>
              </a:ext>
            </a:extLst>
          </p:cNvPr>
          <p:cNvCxnSpPr>
            <a:cxnSpLocks/>
          </p:cNvCxnSpPr>
          <p:nvPr/>
        </p:nvCxnSpPr>
        <p:spPr>
          <a:xfrm flipH="1">
            <a:off x="4833631" y="2420705"/>
            <a:ext cx="1801914" cy="198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EB5550BB-7DB6-216C-06C3-B9F947D63A4B}"/>
              </a:ext>
            </a:extLst>
          </p:cNvPr>
          <p:cNvCxnSpPr>
            <a:cxnSpLocks/>
            <a:stCxn id="174" idx="2"/>
            <a:endCxn id="4" idx="5"/>
          </p:cNvCxnSpPr>
          <p:nvPr/>
        </p:nvCxnSpPr>
        <p:spPr>
          <a:xfrm flipH="1" flipV="1">
            <a:off x="2991409" y="4190538"/>
            <a:ext cx="1262069" cy="727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63955657-0B4A-2C18-44FA-B892FD67CF44}"/>
              </a:ext>
            </a:extLst>
          </p:cNvPr>
          <p:cNvSpPr/>
          <p:nvPr/>
        </p:nvSpPr>
        <p:spPr>
          <a:xfrm>
            <a:off x="9513991" y="4707858"/>
            <a:ext cx="1410051" cy="59574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PTGR3 (EP3)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3F74920-3BF9-9FA9-2F7B-94B52D42227F}"/>
              </a:ext>
            </a:extLst>
          </p:cNvPr>
          <p:cNvSpPr/>
          <p:nvPr/>
        </p:nvSpPr>
        <p:spPr>
          <a:xfrm>
            <a:off x="10810195" y="5464989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PGE2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3AF5EB0-EF85-C948-FA44-A1405C6CEC4C}"/>
              </a:ext>
            </a:extLst>
          </p:cNvPr>
          <p:cNvSpPr/>
          <p:nvPr/>
        </p:nvSpPr>
        <p:spPr>
          <a:xfrm>
            <a:off x="10810195" y="6134458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Cox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5F5EECF-9941-8614-4756-FA9988FF6374}"/>
              </a:ext>
            </a:extLst>
          </p:cNvPr>
          <p:cNvSpPr/>
          <p:nvPr/>
        </p:nvSpPr>
        <p:spPr>
          <a:xfrm>
            <a:off x="11070542" y="4239667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Pain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7876530-D151-2422-62B8-847A70DC3A32}"/>
              </a:ext>
            </a:extLst>
          </p:cNvPr>
          <p:cNvCxnSpPr>
            <a:stCxn id="2" idx="0"/>
            <a:endCxn id="24" idx="2"/>
          </p:cNvCxnSpPr>
          <p:nvPr/>
        </p:nvCxnSpPr>
        <p:spPr>
          <a:xfrm flipV="1">
            <a:off x="10219017" y="4665336"/>
            <a:ext cx="851525" cy="42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B0CC894-076D-5255-F9F9-80369FDD9E3A}"/>
              </a:ext>
            </a:extLst>
          </p:cNvPr>
          <p:cNvSpPr txBox="1"/>
          <p:nvPr/>
        </p:nvSpPr>
        <p:spPr>
          <a:xfrm>
            <a:off x="6431851" y="1559295"/>
            <a:ext cx="2175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>
                <a:solidFill>
                  <a:srgbClr val="FF0000"/>
                </a:solidFill>
              </a:rPr>
              <a:t>SM: C2LO in March 24 (John Barrett)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CFE3A1-B374-9CBA-33F0-5DB8EB18213E}"/>
              </a:ext>
            </a:extLst>
          </p:cNvPr>
          <p:cNvSpPr txBox="1"/>
          <p:nvPr/>
        </p:nvSpPr>
        <p:spPr>
          <a:xfrm>
            <a:off x="6329601" y="320536"/>
            <a:ext cx="17283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>
                <a:solidFill>
                  <a:srgbClr val="FF0000"/>
                </a:solidFill>
              </a:rPr>
              <a:t>C2LD in Jan 24 (Dan Rycroft)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13F711-02C8-DDF9-C598-2C8B978EEF85}"/>
              </a:ext>
            </a:extLst>
          </p:cNvPr>
          <p:cNvSpPr txBox="1"/>
          <p:nvPr/>
        </p:nvSpPr>
        <p:spPr>
          <a:xfrm>
            <a:off x="9434127" y="5340616"/>
            <a:ext cx="160332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>
                <a:solidFill>
                  <a:srgbClr val="FF0000"/>
                </a:solidFill>
              </a:rPr>
              <a:t>SM: C2LD in Mach 24</a:t>
            </a:r>
          </a:p>
          <a:p>
            <a:r>
              <a:rPr lang="en-US" sz="1050" i="1" dirty="0">
                <a:solidFill>
                  <a:srgbClr val="FF0000"/>
                </a:solidFill>
              </a:rPr>
              <a:t>Available chemical matter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797979-70BC-25E0-2A35-F57329AEE36B}"/>
              </a:ext>
            </a:extLst>
          </p:cNvPr>
          <p:cNvSpPr txBox="1"/>
          <p:nvPr/>
        </p:nvSpPr>
        <p:spPr>
          <a:xfrm>
            <a:off x="1215435" y="4078651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>
                <a:solidFill>
                  <a:srgbClr val="FF0000"/>
                </a:solidFill>
              </a:rPr>
              <a:t>Gareth Young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E15224F-4681-8B93-F0D0-709A3E48B25C}"/>
              </a:ext>
            </a:extLst>
          </p:cNvPr>
          <p:cNvCxnSpPr>
            <a:cxnSpLocks/>
            <a:endCxn id="24" idx="4"/>
          </p:cNvCxnSpPr>
          <p:nvPr/>
        </p:nvCxnSpPr>
        <p:spPr>
          <a:xfrm flipV="1">
            <a:off x="11482772" y="5091005"/>
            <a:ext cx="155329" cy="373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CA33D84-030B-BFF7-58E5-90024F500CA6}"/>
              </a:ext>
            </a:extLst>
          </p:cNvPr>
          <p:cNvSpPr txBox="1"/>
          <p:nvPr/>
        </p:nvSpPr>
        <p:spPr>
          <a:xfrm>
            <a:off x="11482772" y="5264307"/>
            <a:ext cx="7793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>
                <a:solidFill>
                  <a:srgbClr val="FF0000"/>
                </a:solidFill>
              </a:rPr>
              <a:t>correlation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6F1AA7-81F1-43EF-1E51-4BFC649C349E}"/>
              </a:ext>
            </a:extLst>
          </p:cNvPr>
          <p:cNvCxnSpPr>
            <a:cxnSpLocks/>
          </p:cNvCxnSpPr>
          <p:nvPr/>
        </p:nvCxnSpPr>
        <p:spPr>
          <a:xfrm flipH="1">
            <a:off x="9390129" y="4860258"/>
            <a:ext cx="981288" cy="1146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4CA1174-19CE-205D-7DD9-7D760ACE0CA0}"/>
              </a:ext>
            </a:extLst>
          </p:cNvPr>
          <p:cNvSpPr txBox="1"/>
          <p:nvPr/>
        </p:nvSpPr>
        <p:spPr>
          <a:xfrm>
            <a:off x="4045119" y="-19243"/>
            <a:ext cx="20846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Modifier: activator </a:t>
            </a:r>
            <a:r>
              <a:rPr lang="en-US" sz="1200" dirty="0" err="1"/>
              <a:t>emax</a:t>
            </a:r>
            <a:r>
              <a:rPr lang="en-US" sz="1200" dirty="0"/>
              <a:t> increase 1ge1 by 2 fold or 10 fold???km (EC50) and </a:t>
            </a:r>
            <a:r>
              <a:rPr lang="en-US" sz="1200" dirty="0" err="1"/>
              <a:t>vmax</a:t>
            </a:r>
            <a:r>
              <a:rPr lang="en-US" sz="1200" dirty="0"/>
              <a:t> (Emax)</a:t>
            </a:r>
          </a:p>
          <a:p>
            <a:r>
              <a:rPr lang="en-US" sz="1200" dirty="0"/>
              <a:t>Velocity (constant) of combination, </a:t>
            </a:r>
            <a:r>
              <a:rPr lang="en-US" sz="1200" b="1" dirty="0"/>
              <a:t>when enzyme is very low=vel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CF5B2F-2678-893B-0730-5C8FB99E4B8D}"/>
              </a:ext>
            </a:extLst>
          </p:cNvPr>
          <p:cNvSpPr txBox="1"/>
          <p:nvPr/>
        </p:nvSpPr>
        <p:spPr>
          <a:xfrm>
            <a:off x="9884672" y="236838"/>
            <a:ext cx="13342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2comp PK endo </a:t>
            </a:r>
            <a:r>
              <a:rPr lang="en-US" sz="1200" dirty="0" err="1"/>
              <a:t>tissue,tissue</a:t>
            </a:r>
            <a:r>
              <a:rPr lang="en-US" sz="1200" dirty="0"/>
              <a:t> is in </a:t>
            </a:r>
            <a:r>
              <a:rPr lang="en-US" sz="1200" dirty="0" err="1"/>
              <a:t>quilibrium</a:t>
            </a:r>
            <a:r>
              <a:rPr lang="en-US" sz="1200" dirty="0"/>
              <a:t> : </a:t>
            </a:r>
            <a:r>
              <a:rPr lang="en-US" sz="1200" dirty="0" err="1"/>
              <a:t>assump</a:t>
            </a:r>
            <a:endParaRPr lang="en-US" sz="1200" dirty="0"/>
          </a:p>
          <a:p>
            <a:r>
              <a:rPr lang="en-US" sz="1200" dirty="0"/>
              <a:t>Distribution </a:t>
            </a:r>
            <a:r>
              <a:rPr lang="en-US" sz="1200" dirty="0" err="1"/>
              <a:t>coeff</a:t>
            </a:r>
            <a:r>
              <a:rPr lang="en-US" sz="1200" dirty="0"/>
              <a:t>= </a:t>
            </a:r>
            <a:r>
              <a:rPr lang="en-US" sz="1200" dirty="0" err="1"/>
              <a:t>DisCoeff_plasma</a:t>
            </a:r>
            <a:endParaRPr 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ABAA2B-0B6A-1899-86BD-2C3486750F6C}"/>
              </a:ext>
            </a:extLst>
          </p:cNvPr>
          <p:cNvSpPr txBox="1"/>
          <p:nvPr/>
        </p:nvSpPr>
        <p:spPr>
          <a:xfrm>
            <a:off x="6028693" y="2946725"/>
            <a:ext cx="1602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Rp </a:t>
            </a:r>
            <a:r>
              <a:rPr lang="en-US" sz="1200" dirty="0" err="1"/>
              <a:t>propotional</a:t>
            </a:r>
            <a:r>
              <a:rPr lang="en-US" sz="1200" dirty="0"/>
              <a:t> to IGF1</a:t>
            </a:r>
          </a:p>
          <a:p>
            <a:r>
              <a:rPr lang="en-US" sz="1200" dirty="0"/>
              <a:t>Validate with data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E39BE0-FA01-E5DB-4574-5328DA8BCD08}"/>
              </a:ext>
            </a:extLst>
          </p:cNvPr>
          <p:cNvSpPr txBox="1"/>
          <p:nvPr/>
        </p:nvSpPr>
        <p:spPr>
          <a:xfrm>
            <a:off x="9616835" y="1764472"/>
            <a:ext cx="9716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Luteal Phase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94DBC0-1CF3-FAD6-2E29-D507567496BB}"/>
              </a:ext>
            </a:extLst>
          </p:cNvPr>
          <p:cNvSpPr txBox="1"/>
          <p:nvPr/>
        </p:nvSpPr>
        <p:spPr>
          <a:xfrm>
            <a:off x="10604325" y="2703979"/>
            <a:ext cx="1389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(sigmoid…rep ass</a:t>
            </a:r>
          </a:p>
          <a:p>
            <a:r>
              <a:rPr lang="en-US" sz="1200" dirty="0"/>
              <a:t>Time scale??)</a:t>
            </a:r>
          </a:p>
          <a:p>
            <a:r>
              <a:rPr lang="en-US" sz="1200" dirty="0"/>
              <a:t>More or less eq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74E861-CF88-3D54-4054-4FFB79230982}"/>
              </a:ext>
            </a:extLst>
          </p:cNvPr>
          <p:cNvSpPr txBox="1"/>
          <p:nvPr/>
        </p:nvSpPr>
        <p:spPr>
          <a:xfrm>
            <a:off x="6498904" y="2630163"/>
            <a:ext cx="3722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>
                <a:solidFill>
                  <a:srgbClr val="FF0000"/>
                </a:solidFill>
              </a:rPr>
              <a:t>???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9CFC901-78E4-A1BE-68A7-861CDB26584E}"/>
              </a:ext>
            </a:extLst>
          </p:cNvPr>
          <p:cNvSpPr>
            <a:spLocks noChangeAspect="1"/>
          </p:cNvSpPr>
          <p:nvPr/>
        </p:nvSpPr>
        <p:spPr>
          <a:xfrm>
            <a:off x="4729069" y="4117262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542DFB-685F-8E9B-274C-69CF1A729AE2}"/>
              </a:ext>
            </a:extLst>
          </p:cNvPr>
          <p:cNvCxnSpPr>
            <a:cxnSpLocks/>
          </p:cNvCxnSpPr>
          <p:nvPr/>
        </p:nvCxnSpPr>
        <p:spPr>
          <a:xfrm>
            <a:off x="4648909" y="3940603"/>
            <a:ext cx="0" cy="59812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2B28F8C-F936-CECF-8E9B-06A44490F254}"/>
              </a:ext>
            </a:extLst>
          </p:cNvPr>
          <p:cNvCxnSpPr>
            <a:cxnSpLocks/>
          </p:cNvCxnSpPr>
          <p:nvPr/>
        </p:nvCxnSpPr>
        <p:spPr>
          <a:xfrm>
            <a:off x="4749229" y="5291658"/>
            <a:ext cx="0" cy="256032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43300B1-306C-2B60-2543-2F5F6963DECD}"/>
              </a:ext>
            </a:extLst>
          </p:cNvPr>
          <p:cNvSpPr txBox="1"/>
          <p:nvPr/>
        </p:nvSpPr>
        <p:spPr>
          <a:xfrm>
            <a:off x="5675035" y="3938543"/>
            <a:ext cx="3722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>
                <a:solidFill>
                  <a:srgbClr val="FF0000"/>
                </a:solidFill>
              </a:rPr>
              <a:t>???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C1B440-52FB-E815-4BF1-E61A9FA4328B}"/>
              </a:ext>
            </a:extLst>
          </p:cNvPr>
          <p:cNvSpPr txBox="1"/>
          <p:nvPr/>
        </p:nvSpPr>
        <p:spPr>
          <a:xfrm>
            <a:off x="5697683" y="4181263"/>
            <a:ext cx="7697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Kpain</a:t>
            </a:r>
            <a:r>
              <a:rPr lang="en-US" sz="1200" dirty="0"/>
              <a:t>(TS)</a:t>
            </a:r>
          </a:p>
        </p:txBody>
      </p:sp>
    </p:spTree>
    <p:extLst>
      <p:ext uri="{BB962C8B-B14F-4D97-AF65-F5344CB8AC3E}">
        <p14:creationId xmlns:p14="http://schemas.microsoft.com/office/powerpoint/2010/main" val="107220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: Rounded Corners 318">
            <a:extLst>
              <a:ext uri="{FF2B5EF4-FFF2-40B4-BE49-F238E27FC236}">
                <a16:creationId xmlns:a16="http://schemas.microsoft.com/office/drawing/2014/main" id="{4B9F8C10-279F-A4E9-E5FB-EC685AA4DEB0}"/>
              </a:ext>
            </a:extLst>
          </p:cNvPr>
          <p:cNvSpPr/>
          <p:nvPr/>
        </p:nvSpPr>
        <p:spPr>
          <a:xfrm>
            <a:off x="176160" y="-11618"/>
            <a:ext cx="5320909" cy="640289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0" name="Rectangle: Rounded Corners 319">
            <a:extLst>
              <a:ext uri="{FF2B5EF4-FFF2-40B4-BE49-F238E27FC236}">
                <a16:creationId xmlns:a16="http://schemas.microsoft.com/office/drawing/2014/main" id="{2B651B22-0A6A-DAD0-4FFE-CA59AD4F64D5}"/>
              </a:ext>
            </a:extLst>
          </p:cNvPr>
          <p:cNvSpPr/>
          <p:nvPr/>
        </p:nvSpPr>
        <p:spPr>
          <a:xfrm>
            <a:off x="6593801" y="1030405"/>
            <a:ext cx="1531651" cy="1993881"/>
          </a:xfrm>
          <a:prstGeom prst="roundRect">
            <a:avLst/>
          </a:prstGeom>
          <a:solidFill>
            <a:schemeClr val="accent6"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1" name="Rectangle: Rounded Corners 320">
            <a:extLst>
              <a:ext uri="{FF2B5EF4-FFF2-40B4-BE49-F238E27FC236}">
                <a16:creationId xmlns:a16="http://schemas.microsoft.com/office/drawing/2014/main" id="{C9BCE24E-F1AE-34D1-B5C6-A59C81C55497}"/>
              </a:ext>
            </a:extLst>
          </p:cNvPr>
          <p:cNvSpPr/>
          <p:nvPr/>
        </p:nvSpPr>
        <p:spPr>
          <a:xfrm>
            <a:off x="7380793" y="3256005"/>
            <a:ext cx="4744532" cy="3135267"/>
          </a:xfrm>
          <a:prstGeom prst="roundRect">
            <a:avLst/>
          </a:prstGeom>
          <a:solidFill>
            <a:schemeClr val="accent1"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7848102-D8F3-55C3-E697-7856B92BCF9B}"/>
              </a:ext>
            </a:extLst>
          </p:cNvPr>
          <p:cNvSpPr/>
          <p:nvPr/>
        </p:nvSpPr>
        <p:spPr>
          <a:xfrm>
            <a:off x="10325733" y="1263838"/>
            <a:ext cx="1135117" cy="851338"/>
          </a:xfrm>
          <a:prstGeom prst="ellipse">
            <a:avLst/>
          </a:prstGeom>
          <a:solidFill>
            <a:srgbClr val="E339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Pain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F5F880-85EE-A228-FE01-C1CC00E319A0}"/>
              </a:ext>
            </a:extLst>
          </p:cNvPr>
          <p:cNvCxnSpPr>
            <a:cxnSpLocks/>
          </p:cNvCxnSpPr>
          <p:nvPr/>
        </p:nvCxnSpPr>
        <p:spPr>
          <a:xfrm flipV="1">
            <a:off x="9310165" y="1897759"/>
            <a:ext cx="1035690" cy="1463989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322FEF25-FD75-2A59-CFF7-CBBAA8BEB1AC}"/>
              </a:ext>
            </a:extLst>
          </p:cNvPr>
          <p:cNvSpPr/>
          <p:nvPr/>
        </p:nvSpPr>
        <p:spPr>
          <a:xfrm>
            <a:off x="4133760" y="1376969"/>
            <a:ext cx="817418" cy="5977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IGF1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DE4DB1-27B7-3F40-D4DD-B931A531A82E}"/>
              </a:ext>
            </a:extLst>
          </p:cNvPr>
          <p:cNvSpPr/>
          <p:nvPr/>
        </p:nvSpPr>
        <p:spPr>
          <a:xfrm>
            <a:off x="2937668" y="446573"/>
            <a:ext cx="817418" cy="59574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PAPPA2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EA5746-2A0D-2ADB-CF19-5165480A0648}"/>
              </a:ext>
            </a:extLst>
          </p:cNvPr>
          <p:cNvCxnSpPr>
            <a:cxnSpLocks/>
          </p:cNvCxnSpPr>
          <p:nvPr/>
        </p:nvCxnSpPr>
        <p:spPr>
          <a:xfrm flipH="1">
            <a:off x="1121444" y="768815"/>
            <a:ext cx="11735" cy="299064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86F9FF-CB90-8B21-EDD5-0FFEFB0480BD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2695130" y="237024"/>
            <a:ext cx="362246" cy="296794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3E1F3CE-13C0-2C8A-3AC5-1B7FEDF51223}"/>
              </a:ext>
            </a:extLst>
          </p:cNvPr>
          <p:cNvCxnSpPr>
            <a:cxnSpLocks/>
          </p:cNvCxnSpPr>
          <p:nvPr/>
        </p:nvCxnSpPr>
        <p:spPr>
          <a:xfrm>
            <a:off x="1133179" y="1124859"/>
            <a:ext cx="0" cy="337035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1841E0B-8C3C-E99C-B611-6A04D472BB57}"/>
              </a:ext>
            </a:extLst>
          </p:cNvPr>
          <p:cNvCxnSpPr>
            <a:cxnSpLocks/>
          </p:cNvCxnSpPr>
          <p:nvPr/>
        </p:nvCxnSpPr>
        <p:spPr>
          <a:xfrm>
            <a:off x="3680746" y="826248"/>
            <a:ext cx="242538" cy="177032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E91870F-B10E-F3BF-88A6-2F5C82DFE6FD}"/>
              </a:ext>
            </a:extLst>
          </p:cNvPr>
          <p:cNvCxnSpPr>
            <a:cxnSpLocks/>
          </p:cNvCxnSpPr>
          <p:nvPr/>
        </p:nvCxnSpPr>
        <p:spPr>
          <a:xfrm>
            <a:off x="3334714" y="963319"/>
            <a:ext cx="11663" cy="334686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7ACF73-6D0A-E823-81D2-385CB6CD17D9}"/>
              </a:ext>
            </a:extLst>
          </p:cNvPr>
          <p:cNvCxnSpPr>
            <a:cxnSpLocks/>
          </p:cNvCxnSpPr>
          <p:nvPr/>
        </p:nvCxnSpPr>
        <p:spPr>
          <a:xfrm>
            <a:off x="4712253" y="1956937"/>
            <a:ext cx="30555" cy="48996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AE7AB1-354C-57EE-A046-47E5DF0C0298}"/>
              </a:ext>
            </a:extLst>
          </p:cNvPr>
          <p:cNvCxnSpPr>
            <a:cxnSpLocks/>
          </p:cNvCxnSpPr>
          <p:nvPr/>
        </p:nvCxnSpPr>
        <p:spPr>
          <a:xfrm>
            <a:off x="1383136" y="988818"/>
            <a:ext cx="2812382" cy="521556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A309D12-311C-85A1-B3FF-366FCF965080}"/>
              </a:ext>
            </a:extLst>
          </p:cNvPr>
          <p:cNvCxnSpPr>
            <a:cxnSpLocks/>
          </p:cNvCxnSpPr>
          <p:nvPr/>
        </p:nvCxnSpPr>
        <p:spPr>
          <a:xfrm>
            <a:off x="4701876" y="1016504"/>
            <a:ext cx="0" cy="51924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168D640A-7159-5ADC-01F6-11FEC796F5E5}"/>
              </a:ext>
            </a:extLst>
          </p:cNvPr>
          <p:cNvSpPr>
            <a:spLocks noChangeAspect="1"/>
          </p:cNvSpPr>
          <p:nvPr/>
        </p:nvSpPr>
        <p:spPr>
          <a:xfrm>
            <a:off x="2811154" y="2012275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D5577E2-D8F1-F394-782B-0308B15BB43E}"/>
              </a:ext>
            </a:extLst>
          </p:cNvPr>
          <p:cNvSpPr>
            <a:spLocks noChangeAspect="1"/>
          </p:cNvSpPr>
          <p:nvPr/>
        </p:nvSpPr>
        <p:spPr>
          <a:xfrm>
            <a:off x="2700524" y="1103501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8D4F248-562E-66BB-CCBB-2403898D606A}"/>
              </a:ext>
            </a:extLst>
          </p:cNvPr>
          <p:cNvSpPr/>
          <p:nvPr/>
        </p:nvSpPr>
        <p:spPr>
          <a:xfrm>
            <a:off x="4008722" y="82940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PAPPA2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35F3B8C-1F8D-1F50-3A75-F3F408E08505}"/>
              </a:ext>
            </a:extLst>
          </p:cNvPr>
          <p:cNvCxnSpPr>
            <a:stCxn id="21" idx="6"/>
            <a:endCxn id="75" idx="2"/>
          </p:cNvCxnSpPr>
          <p:nvPr/>
        </p:nvCxnSpPr>
        <p:spPr>
          <a:xfrm flipV="1">
            <a:off x="3755086" y="380813"/>
            <a:ext cx="253636" cy="363633"/>
          </a:xfrm>
          <a:prstGeom prst="straightConnector1">
            <a:avLst/>
          </a:prstGeom>
          <a:ln w="254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1614A83-D729-B02A-53E8-79BBB4E4A831}"/>
              </a:ext>
            </a:extLst>
          </p:cNvPr>
          <p:cNvSpPr txBox="1"/>
          <p:nvPr/>
        </p:nvSpPr>
        <p:spPr>
          <a:xfrm>
            <a:off x="4044903" y="-158712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F14E450-7B90-736C-BFAF-A3530BD096B8}"/>
              </a:ext>
            </a:extLst>
          </p:cNvPr>
          <p:cNvSpPr txBox="1"/>
          <p:nvPr/>
        </p:nvSpPr>
        <p:spPr>
          <a:xfrm>
            <a:off x="4513320" y="-154024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Y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4955DBB-A069-3470-CA7D-0D45BB3EB328}"/>
              </a:ext>
            </a:extLst>
          </p:cNvPr>
          <p:cNvSpPr/>
          <p:nvPr/>
        </p:nvSpPr>
        <p:spPr>
          <a:xfrm>
            <a:off x="2055788" y="4664144"/>
            <a:ext cx="2779725" cy="1362633"/>
          </a:xfrm>
          <a:prstGeom prst="rect">
            <a:avLst/>
          </a:prstGeom>
          <a:solidFill>
            <a:schemeClr val="accent2">
              <a:lumMod val="75000"/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7F80AB5-1BDE-C8DD-1760-40DDA7B43866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3629100" y="1974706"/>
            <a:ext cx="913369" cy="297867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C1B09548-EF0D-478F-CB73-6105B1F56A82}"/>
              </a:ext>
            </a:extLst>
          </p:cNvPr>
          <p:cNvSpPr>
            <a:spLocks noChangeAspect="1"/>
          </p:cNvSpPr>
          <p:nvPr/>
        </p:nvSpPr>
        <p:spPr>
          <a:xfrm>
            <a:off x="5952369" y="5378859"/>
            <a:ext cx="167576" cy="1709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BA5087CA-1FB2-F8DD-1FFD-5C62111A5565}"/>
              </a:ext>
            </a:extLst>
          </p:cNvPr>
          <p:cNvSpPr/>
          <p:nvPr/>
        </p:nvSpPr>
        <p:spPr>
          <a:xfrm>
            <a:off x="8295645" y="78661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Tissue Ectopic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(sensitive)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E786A529-972C-91AD-4D6E-228DEF6BB795}"/>
              </a:ext>
            </a:extLst>
          </p:cNvPr>
          <p:cNvCxnSpPr>
            <a:cxnSpLocks/>
            <a:stCxn id="140" idx="4"/>
          </p:cNvCxnSpPr>
          <p:nvPr/>
        </p:nvCxnSpPr>
        <p:spPr>
          <a:xfrm>
            <a:off x="8863204" y="929999"/>
            <a:ext cx="0" cy="256032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D159C283-E4ED-1EA6-5E52-8E08B5F9FCF5}"/>
              </a:ext>
            </a:extLst>
          </p:cNvPr>
          <p:cNvCxnSpPr>
            <a:cxnSpLocks/>
          </p:cNvCxnSpPr>
          <p:nvPr/>
        </p:nvCxnSpPr>
        <p:spPr>
          <a:xfrm>
            <a:off x="9365935" y="711653"/>
            <a:ext cx="945285" cy="58131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61C9D511-1762-0AAF-1178-53142DB09340}"/>
              </a:ext>
            </a:extLst>
          </p:cNvPr>
          <p:cNvSpPr txBox="1"/>
          <p:nvPr/>
        </p:nvSpPr>
        <p:spPr>
          <a:xfrm>
            <a:off x="4377483" y="2503186"/>
            <a:ext cx="7200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kdegIGF1</a:t>
            </a:r>
          </a:p>
          <a:p>
            <a:r>
              <a:rPr lang="en-US" sz="1100" dirty="0"/>
              <a:t>: 4.1506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A81F972-DA7B-8303-2655-62C84184A68E}"/>
              </a:ext>
            </a:extLst>
          </p:cNvPr>
          <p:cNvSpPr>
            <a:spLocks noChangeAspect="1"/>
          </p:cNvSpPr>
          <p:nvPr/>
        </p:nvSpPr>
        <p:spPr>
          <a:xfrm>
            <a:off x="2139294" y="3685949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9B656943-6D95-FBA4-B1CB-523D6AF7ADFE}"/>
              </a:ext>
            </a:extLst>
          </p:cNvPr>
          <p:cNvSpPr>
            <a:spLocks noChangeAspect="1"/>
          </p:cNvSpPr>
          <p:nvPr/>
        </p:nvSpPr>
        <p:spPr>
          <a:xfrm>
            <a:off x="2092563" y="3414482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030F795F-23E0-569E-8085-35BCAFBC2219}"/>
              </a:ext>
            </a:extLst>
          </p:cNvPr>
          <p:cNvSpPr>
            <a:spLocks noChangeAspect="1"/>
          </p:cNvSpPr>
          <p:nvPr/>
        </p:nvSpPr>
        <p:spPr>
          <a:xfrm>
            <a:off x="6215296" y="1137380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ABAB7C3D-5C1C-B3E0-5B14-CF8F027BF8B6}"/>
              </a:ext>
            </a:extLst>
          </p:cNvPr>
          <p:cNvCxnSpPr>
            <a:cxnSpLocks/>
          </p:cNvCxnSpPr>
          <p:nvPr/>
        </p:nvCxnSpPr>
        <p:spPr>
          <a:xfrm>
            <a:off x="7330816" y="1720120"/>
            <a:ext cx="3015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59CFC901-78E4-A1BE-68A7-861CDB26584E}"/>
              </a:ext>
            </a:extLst>
          </p:cNvPr>
          <p:cNvSpPr>
            <a:spLocks noChangeAspect="1"/>
          </p:cNvSpPr>
          <p:nvPr/>
        </p:nvSpPr>
        <p:spPr>
          <a:xfrm>
            <a:off x="1897027" y="3607935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3300B1-306C-2B60-2543-2F5F6963DECD}"/>
              </a:ext>
            </a:extLst>
          </p:cNvPr>
          <p:cNvSpPr txBox="1"/>
          <p:nvPr/>
        </p:nvSpPr>
        <p:spPr>
          <a:xfrm>
            <a:off x="4174704" y="4453448"/>
            <a:ext cx="3722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>
                <a:solidFill>
                  <a:srgbClr val="FF0000"/>
                </a:solidFill>
              </a:rPr>
              <a:t>???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F8FB4F6-F10A-CEC6-4DF4-BD7DD7AAC448}"/>
              </a:ext>
            </a:extLst>
          </p:cNvPr>
          <p:cNvSpPr txBox="1"/>
          <p:nvPr/>
        </p:nvSpPr>
        <p:spPr>
          <a:xfrm>
            <a:off x="4643649" y="1125593"/>
            <a:ext cx="1333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ksynIGF1: 34.8031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400E48B9-B672-2102-A593-13ABB9492E48}"/>
              </a:ext>
            </a:extLst>
          </p:cNvPr>
          <p:cNvSpPr/>
          <p:nvPr/>
        </p:nvSpPr>
        <p:spPr>
          <a:xfrm>
            <a:off x="722816" y="2196169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IGFBP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F4849F3-9400-6892-C6DE-803E3307E7F8}"/>
              </a:ext>
            </a:extLst>
          </p:cNvPr>
          <p:cNvCxnSpPr>
            <a:cxnSpLocks/>
          </p:cNvCxnSpPr>
          <p:nvPr/>
        </p:nvCxnSpPr>
        <p:spPr>
          <a:xfrm flipH="1">
            <a:off x="883229" y="1897759"/>
            <a:ext cx="11735" cy="299064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F1BCB8FF-BBAB-B358-F462-51618165FC7B}"/>
              </a:ext>
            </a:extLst>
          </p:cNvPr>
          <p:cNvCxnSpPr>
            <a:cxnSpLocks/>
          </p:cNvCxnSpPr>
          <p:nvPr/>
        </p:nvCxnSpPr>
        <p:spPr>
          <a:xfrm>
            <a:off x="894964" y="2768708"/>
            <a:ext cx="0" cy="337035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B10F6F3D-E098-02D6-F279-6B1BC71F870F}"/>
              </a:ext>
            </a:extLst>
          </p:cNvPr>
          <p:cNvSpPr/>
          <p:nvPr/>
        </p:nvSpPr>
        <p:spPr>
          <a:xfrm>
            <a:off x="710812" y="549901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IGFBPc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6531803-390A-5BC8-A6AC-8ECF769E71A2}"/>
              </a:ext>
            </a:extLst>
          </p:cNvPr>
          <p:cNvCxnSpPr>
            <a:cxnSpLocks/>
            <a:endCxn id="101" idx="0"/>
          </p:cNvCxnSpPr>
          <p:nvPr/>
        </p:nvCxnSpPr>
        <p:spPr>
          <a:xfrm flipH="1">
            <a:off x="1119521" y="250837"/>
            <a:ext cx="11735" cy="299064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01AC18FE-E129-6A1B-0F37-3DC5D815E55F}"/>
              </a:ext>
            </a:extLst>
          </p:cNvPr>
          <p:cNvCxnSpPr>
            <a:cxnSpLocks/>
            <a:stCxn id="97" idx="6"/>
          </p:cNvCxnSpPr>
          <p:nvPr/>
        </p:nvCxnSpPr>
        <p:spPr>
          <a:xfrm flipV="1">
            <a:off x="1540234" y="1854294"/>
            <a:ext cx="2631711" cy="63974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2AB906BF-46E6-E4A6-E77C-34A1AF5979D6}"/>
              </a:ext>
            </a:extLst>
          </p:cNvPr>
          <p:cNvSpPr/>
          <p:nvPr/>
        </p:nvSpPr>
        <p:spPr>
          <a:xfrm>
            <a:off x="2650207" y="2440119"/>
            <a:ext cx="817418" cy="59574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PAPPA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9B6C7ADE-98F5-2173-54F5-454A983191C1}"/>
              </a:ext>
            </a:extLst>
          </p:cNvPr>
          <p:cNvCxnSpPr>
            <a:cxnSpLocks/>
          </p:cNvCxnSpPr>
          <p:nvPr/>
        </p:nvCxnSpPr>
        <p:spPr>
          <a:xfrm>
            <a:off x="2360480" y="2478683"/>
            <a:ext cx="362246" cy="296794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21AC990-1DA7-FD47-E7FF-75955F2175E7}"/>
              </a:ext>
            </a:extLst>
          </p:cNvPr>
          <p:cNvCxnSpPr>
            <a:cxnSpLocks/>
          </p:cNvCxnSpPr>
          <p:nvPr/>
        </p:nvCxnSpPr>
        <p:spPr>
          <a:xfrm>
            <a:off x="3371293" y="2901666"/>
            <a:ext cx="242538" cy="177032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C7E46D0-EA9D-17E9-39BC-A548B6245CD4}"/>
              </a:ext>
            </a:extLst>
          </p:cNvPr>
          <p:cNvCxnSpPr>
            <a:cxnSpLocks/>
          </p:cNvCxnSpPr>
          <p:nvPr/>
        </p:nvCxnSpPr>
        <p:spPr>
          <a:xfrm flipV="1">
            <a:off x="3082166" y="2254073"/>
            <a:ext cx="0" cy="324490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Oval 131">
            <a:extLst>
              <a:ext uri="{FF2B5EF4-FFF2-40B4-BE49-F238E27FC236}">
                <a16:creationId xmlns:a16="http://schemas.microsoft.com/office/drawing/2014/main" id="{CA54287B-9FE0-C0E1-72B9-E6C8D6658FD5}"/>
              </a:ext>
            </a:extLst>
          </p:cNvPr>
          <p:cNvSpPr>
            <a:spLocks noChangeAspect="1"/>
          </p:cNvSpPr>
          <p:nvPr/>
        </p:nvSpPr>
        <p:spPr>
          <a:xfrm>
            <a:off x="3997624" y="606122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CCEE882-981A-0C23-7D21-8842251B3271}"/>
              </a:ext>
            </a:extLst>
          </p:cNvPr>
          <p:cNvSpPr txBox="1"/>
          <p:nvPr/>
        </p:nvSpPr>
        <p:spPr>
          <a:xfrm>
            <a:off x="1179220" y="233587"/>
            <a:ext cx="915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ksynIGFBPc</a:t>
            </a:r>
            <a:r>
              <a:rPr lang="en-GB" sz="1000" dirty="0"/>
              <a:t>: 5.5321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7F92C403-49C3-9F26-ADBA-A662353E7C8A}"/>
              </a:ext>
            </a:extLst>
          </p:cNvPr>
          <p:cNvSpPr txBox="1"/>
          <p:nvPr/>
        </p:nvSpPr>
        <p:spPr>
          <a:xfrm>
            <a:off x="1226471" y="1076948"/>
            <a:ext cx="915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 </a:t>
            </a:r>
            <a:r>
              <a:rPr lang="en-GB" sz="1000" dirty="0" err="1"/>
              <a:t>kdegIGFBPc</a:t>
            </a:r>
            <a:r>
              <a:rPr lang="en-GB" sz="1000" dirty="0"/>
              <a:t>: 0.0433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09D5CBC6-AC9D-B0BE-1FFB-61D095793D50}"/>
              </a:ext>
            </a:extLst>
          </p:cNvPr>
          <p:cNvSpPr txBox="1"/>
          <p:nvPr/>
        </p:nvSpPr>
        <p:spPr>
          <a:xfrm>
            <a:off x="1160642" y="1807681"/>
            <a:ext cx="915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ksynIGFBP</a:t>
            </a:r>
            <a:r>
              <a:rPr lang="en-GB" sz="1000" dirty="0"/>
              <a:t>: 33.4447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DA48C1C-ED77-E4C5-1FE2-F70F5AFD53D4}"/>
              </a:ext>
            </a:extLst>
          </p:cNvPr>
          <p:cNvSpPr txBox="1"/>
          <p:nvPr/>
        </p:nvSpPr>
        <p:spPr>
          <a:xfrm>
            <a:off x="1127311" y="2746670"/>
            <a:ext cx="915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kdegIGFBP</a:t>
            </a:r>
            <a:r>
              <a:rPr lang="en-GB" sz="1000" dirty="0"/>
              <a:t>: 0.0433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2B4B11B5-7E0A-215B-B85E-565927113148}"/>
              </a:ext>
            </a:extLst>
          </p:cNvPr>
          <p:cNvSpPr txBox="1"/>
          <p:nvPr/>
        </p:nvSpPr>
        <p:spPr>
          <a:xfrm>
            <a:off x="2821682" y="7319"/>
            <a:ext cx="915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 ksynPAPPA2: 9.1495e-06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615BC77-65A7-1611-7F28-3AEB6CF2643C}"/>
              </a:ext>
            </a:extLst>
          </p:cNvPr>
          <p:cNvSpPr txBox="1"/>
          <p:nvPr/>
        </p:nvSpPr>
        <p:spPr>
          <a:xfrm>
            <a:off x="3949459" y="816449"/>
            <a:ext cx="915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kdegPAPPA2: 0.0069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76BE9DC-8961-702A-F08B-EB0048FE8D7E}"/>
              </a:ext>
            </a:extLst>
          </p:cNvPr>
          <p:cNvSpPr txBox="1"/>
          <p:nvPr/>
        </p:nvSpPr>
        <p:spPr>
          <a:xfrm>
            <a:off x="3408898" y="2646235"/>
            <a:ext cx="915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kdegPAPPA</a:t>
            </a:r>
            <a:r>
              <a:rPr lang="en-GB" sz="1000" dirty="0"/>
              <a:t>: 0.0069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1EC78E7-8D9D-46E2-4EE4-8002CE190627}"/>
              </a:ext>
            </a:extLst>
          </p:cNvPr>
          <p:cNvSpPr txBox="1"/>
          <p:nvPr/>
        </p:nvSpPr>
        <p:spPr>
          <a:xfrm>
            <a:off x="2092563" y="2323235"/>
            <a:ext cx="915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ksynPAPPA</a:t>
            </a:r>
            <a:r>
              <a:rPr lang="en-GB" sz="1000" dirty="0"/>
              <a:t>: 0.0014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4D571C18-B1FE-FDE8-1EB2-59A45708329A}"/>
              </a:ext>
            </a:extLst>
          </p:cNvPr>
          <p:cNvSpPr txBox="1"/>
          <p:nvPr/>
        </p:nvSpPr>
        <p:spPr>
          <a:xfrm>
            <a:off x="3073314" y="2115176"/>
            <a:ext cx="915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kdegPAPPA</a:t>
            </a:r>
            <a:r>
              <a:rPr lang="en-GB" sz="1000" dirty="0"/>
              <a:t>: 0.0069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0552EA10-8085-19EC-0722-C933BB3BC34D}"/>
              </a:ext>
            </a:extLst>
          </p:cNvPr>
          <p:cNvSpPr txBox="1"/>
          <p:nvPr/>
        </p:nvSpPr>
        <p:spPr>
          <a:xfrm>
            <a:off x="2353422" y="773005"/>
            <a:ext cx="915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err="1"/>
              <a:t>kdegPAPPA</a:t>
            </a:r>
            <a:r>
              <a:rPr lang="en-GB" sz="1000" dirty="0"/>
              <a:t>: 0.0069</a:t>
            </a: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0F27C967-114F-73B2-EB99-4156D749588F}"/>
              </a:ext>
            </a:extLst>
          </p:cNvPr>
          <p:cNvSpPr/>
          <p:nvPr/>
        </p:nvSpPr>
        <p:spPr>
          <a:xfrm>
            <a:off x="3789815" y="4841000"/>
            <a:ext cx="718001" cy="49036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E2</a:t>
            </a: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5FF4CCC9-34AD-CA89-3BE9-9A24613642E1}"/>
              </a:ext>
            </a:extLst>
          </p:cNvPr>
          <p:cNvSpPr/>
          <p:nvPr/>
        </p:nvSpPr>
        <p:spPr>
          <a:xfrm>
            <a:off x="2646485" y="4880875"/>
            <a:ext cx="545726" cy="3429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DB60F37B-C0C3-DE80-8CBC-5290CDAA4E7F}"/>
              </a:ext>
            </a:extLst>
          </p:cNvPr>
          <p:cNvCxnSpPr>
            <a:cxnSpLocks/>
          </p:cNvCxnSpPr>
          <p:nvPr/>
        </p:nvCxnSpPr>
        <p:spPr>
          <a:xfrm flipH="1" flipV="1">
            <a:off x="3080043" y="5234444"/>
            <a:ext cx="738564" cy="1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995DC3BD-B0A3-837A-89A9-3FD0071A46A1}"/>
              </a:ext>
            </a:extLst>
          </p:cNvPr>
          <p:cNvCxnSpPr>
            <a:cxnSpLocks/>
          </p:cNvCxnSpPr>
          <p:nvPr/>
        </p:nvCxnSpPr>
        <p:spPr>
          <a:xfrm flipV="1">
            <a:off x="3180555" y="4997545"/>
            <a:ext cx="598262" cy="529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43793940-D83E-ABF7-5F94-B139B14D8579}"/>
              </a:ext>
            </a:extLst>
          </p:cNvPr>
          <p:cNvSpPr txBox="1"/>
          <p:nvPr/>
        </p:nvSpPr>
        <p:spPr>
          <a:xfrm>
            <a:off x="2535115" y="5297874"/>
            <a:ext cx="1389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P4 resistance</a:t>
            </a: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78D7E7EC-63FD-4C1D-3C5B-55D66DA7CBC7}"/>
              </a:ext>
            </a:extLst>
          </p:cNvPr>
          <p:cNvSpPr/>
          <p:nvPr/>
        </p:nvSpPr>
        <p:spPr>
          <a:xfrm>
            <a:off x="6690212" y="1510374"/>
            <a:ext cx="718001" cy="39492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PGE2</a:t>
            </a:r>
          </a:p>
        </p:txBody>
      </p: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AB037528-0F59-2FCC-CA2E-12ED6C138712}"/>
              </a:ext>
            </a:extLst>
          </p:cNvPr>
          <p:cNvCxnSpPr>
            <a:cxnSpLocks/>
          </p:cNvCxnSpPr>
          <p:nvPr/>
        </p:nvCxnSpPr>
        <p:spPr>
          <a:xfrm flipV="1">
            <a:off x="4952283" y="1187158"/>
            <a:ext cx="2066316" cy="48071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60DC0CC2-46AF-B7F4-03B7-26B87B99E152}"/>
              </a:ext>
            </a:extLst>
          </p:cNvPr>
          <p:cNvCxnSpPr>
            <a:cxnSpLocks/>
          </p:cNvCxnSpPr>
          <p:nvPr/>
        </p:nvCxnSpPr>
        <p:spPr>
          <a:xfrm>
            <a:off x="7049212" y="1956937"/>
            <a:ext cx="0" cy="55834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5053806F-A31B-03DF-56B4-C0A0522A552D}"/>
              </a:ext>
            </a:extLst>
          </p:cNvPr>
          <p:cNvCxnSpPr>
            <a:cxnSpLocks/>
          </p:cNvCxnSpPr>
          <p:nvPr/>
        </p:nvCxnSpPr>
        <p:spPr>
          <a:xfrm>
            <a:off x="7049212" y="999325"/>
            <a:ext cx="0" cy="51924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2C6FDD5E-7A75-78DB-A905-C6819D130B31}"/>
              </a:ext>
            </a:extLst>
          </p:cNvPr>
          <p:cNvSpPr/>
          <p:nvPr/>
        </p:nvSpPr>
        <p:spPr>
          <a:xfrm>
            <a:off x="8712761" y="3297527"/>
            <a:ext cx="869604" cy="46585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Nox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F7E3926E-49EE-C938-537C-6E87120F0709}"/>
              </a:ext>
            </a:extLst>
          </p:cNvPr>
          <p:cNvSpPr/>
          <p:nvPr/>
        </p:nvSpPr>
        <p:spPr>
          <a:xfrm>
            <a:off x="5559209" y="4002582"/>
            <a:ext cx="1282763" cy="1231861"/>
          </a:xfrm>
          <a:prstGeom prst="ellipse">
            <a:avLst/>
          </a:prstGeom>
          <a:solidFill>
            <a:srgbClr val="FF0000">
              <a:alpha val="4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Tissue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Endo</a:t>
            </a:r>
          </a:p>
        </p:txBody>
      </p: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D3C19E70-5AAE-8FCA-71EA-02FFEC35A9E9}"/>
              </a:ext>
            </a:extLst>
          </p:cNvPr>
          <p:cNvCxnSpPr>
            <a:cxnSpLocks/>
          </p:cNvCxnSpPr>
          <p:nvPr/>
        </p:nvCxnSpPr>
        <p:spPr>
          <a:xfrm>
            <a:off x="6184612" y="2877339"/>
            <a:ext cx="0" cy="1103321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62F35333-12FA-F983-DA84-0481F442CCD4}"/>
              </a:ext>
            </a:extLst>
          </p:cNvPr>
          <p:cNvCxnSpPr>
            <a:cxnSpLocks/>
          </p:cNvCxnSpPr>
          <p:nvPr/>
        </p:nvCxnSpPr>
        <p:spPr>
          <a:xfrm>
            <a:off x="6319322" y="5210518"/>
            <a:ext cx="66547" cy="77307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8DF1ACAA-DD49-E26F-B5DA-9CCDAE87E1E7}"/>
              </a:ext>
            </a:extLst>
          </p:cNvPr>
          <p:cNvCxnSpPr>
            <a:cxnSpLocks/>
          </p:cNvCxnSpPr>
          <p:nvPr/>
        </p:nvCxnSpPr>
        <p:spPr>
          <a:xfrm>
            <a:off x="4857396" y="1838434"/>
            <a:ext cx="1305224" cy="1653772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792B2014-A2BC-667C-F927-582766AD639F}"/>
              </a:ext>
            </a:extLst>
          </p:cNvPr>
          <p:cNvCxnSpPr>
            <a:cxnSpLocks/>
          </p:cNvCxnSpPr>
          <p:nvPr/>
        </p:nvCxnSpPr>
        <p:spPr>
          <a:xfrm>
            <a:off x="4821666" y="1897759"/>
            <a:ext cx="1454830" cy="3737635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0ABB16BF-2A6B-6153-760F-7E4BA95772B3}"/>
              </a:ext>
            </a:extLst>
          </p:cNvPr>
          <p:cNvCxnSpPr>
            <a:cxnSpLocks/>
          </p:cNvCxnSpPr>
          <p:nvPr/>
        </p:nvCxnSpPr>
        <p:spPr>
          <a:xfrm flipV="1">
            <a:off x="4328316" y="3569930"/>
            <a:ext cx="1800479" cy="1333125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Oval 253">
            <a:extLst>
              <a:ext uri="{FF2B5EF4-FFF2-40B4-BE49-F238E27FC236}">
                <a16:creationId xmlns:a16="http://schemas.microsoft.com/office/drawing/2014/main" id="{864C59CB-50D9-6B45-1048-2C47AE365636}"/>
              </a:ext>
            </a:extLst>
          </p:cNvPr>
          <p:cNvSpPr/>
          <p:nvPr/>
        </p:nvSpPr>
        <p:spPr>
          <a:xfrm>
            <a:off x="7081068" y="1790082"/>
            <a:ext cx="718001" cy="49036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EP3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27E2118C-1104-EEE8-44FC-3ADD18401B19}"/>
              </a:ext>
            </a:extLst>
          </p:cNvPr>
          <p:cNvSpPr txBox="1"/>
          <p:nvPr/>
        </p:nvSpPr>
        <p:spPr>
          <a:xfrm>
            <a:off x="9395757" y="133707"/>
            <a:ext cx="2455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Ectopic/</a:t>
            </a:r>
            <a:r>
              <a:rPr lang="en-GB" sz="1000" dirty="0" err="1"/>
              <a:t>Eutopic</a:t>
            </a:r>
            <a:r>
              <a:rPr lang="en-GB" sz="1000" dirty="0"/>
              <a:t> = alpha;</a:t>
            </a:r>
          </a:p>
          <a:p>
            <a:r>
              <a:rPr lang="en-GB" sz="1000" dirty="0"/>
              <a:t>Alpha*tissue endometrium = pain </a:t>
            </a:r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E7EB2B24-5040-B56F-A5BA-7690BE9ACD3B}"/>
              </a:ext>
            </a:extLst>
          </p:cNvPr>
          <p:cNvSpPr>
            <a:spLocks noChangeAspect="1"/>
          </p:cNvSpPr>
          <p:nvPr/>
        </p:nvSpPr>
        <p:spPr>
          <a:xfrm>
            <a:off x="5629650" y="3069056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7DE424F8-525F-2C80-C251-589158C050EE}"/>
              </a:ext>
            </a:extLst>
          </p:cNvPr>
          <p:cNvSpPr/>
          <p:nvPr/>
        </p:nvSpPr>
        <p:spPr>
          <a:xfrm>
            <a:off x="7444543" y="2170481"/>
            <a:ext cx="734788" cy="63592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Drug</a:t>
            </a: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EC274D1F-BF03-AE3A-1E35-5AEB72B68143}"/>
              </a:ext>
            </a:extLst>
          </p:cNvPr>
          <p:cNvCxnSpPr>
            <a:cxnSpLocks/>
          </p:cNvCxnSpPr>
          <p:nvPr/>
        </p:nvCxnSpPr>
        <p:spPr>
          <a:xfrm>
            <a:off x="8887681" y="4860401"/>
            <a:ext cx="3850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Oval 274">
            <a:extLst>
              <a:ext uri="{FF2B5EF4-FFF2-40B4-BE49-F238E27FC236}">
                <a16:creationId xmlns:a16="http://schemas.microsoft.com/office/drawing/2014/main" id="{3CA130F3-C48F-9E71-9AA1-F530043951A1}"/>
              </a:ext>
            </a:extLst>
          </p:cNvPr>
          <p:cNvSpPr/>
          <p:nvPr/>
        </p:nvSpPr>
        <p:spPr>
          <a:xfrm>
            <a:off x="9733381" y="4592049"/>
            <a:ext cx="1706880" cy="54864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SLC7A3</a:t>
            </a:r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CF3D5E8E-43BD-1E9E-EAE2-E9F71937A6E6}"/>
              </a:ext>
            </a:extLst>
          </p:cNvPr>
          <p:cNvSpPr/>
          <p:nvPr/>
        </p:nvSpPr>
        <p:spPr>
          <a:xfrm>
            <a:off x="7475370" y="4413664"/>
            <a:ext cx="1359093" cy="8842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Arginine</a:t>
            </a:r>
          </a:p>
        </p:txBody>
      </p: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317BF332-7FA0-43CE-D792-DFB0BD3A7A46}"/>
              </a:ext>
            </a:extLst>
          </p:cNvPr>
          <p:cNvCxnSpPr>
            <a:cxnSpLocks/>
          </p:cNvCxnSpPr>
          <p:nvPr/>
        </p:nvCxnSpPr>
        <p:spPr>
          <a:xfrm flipV="1">
            <a:off x="8240360" y="3743372"/>
            <a:ext cx="507852" cy="670293"/>
          </a:xfrm>
          <a:prstGeom prst="straightConnector1">
            <a:avLst/>
          </a:prstGeom>
          <a:ln w="508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Box 285">
            <a:extLst>
              <a:ext uri="{FF2B5EF4-FFF2-40B4-BE49-F238E27FC236}">
                <a16:creationId xmlns:a16="http://schemas.microsoft.com/office/drawing/2014/main" id="{E3EC78C3-3FD6-2168-A0C8-C9DF9F26AD6D}"/>
              </a:ext>
            </a:extLst>
          </p:cNvPr>
          <p:cNvSpPr txBox="1"/>
          <p:nvPr/>
        </p:nvSpPr>
        <p:spPr>
          <a:xfrm>
            <a:off x="10953804" y="4453448"/>
            <a:ext cx="13708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Extracellular space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31FF0151-F590-C4B2-8BE0-0335AF620014}"/>
              </a:ext>
            </a:extLst>
          </p:cNvPr>
          <p:cNvSpPr txBox="1"/>
          <p:nvPr/>
        </p:nvSpPr>
        <p:spPr>
          <a:xfrm>
            <a:off x="10821102" y="5183373"/>
            <a:ext cx="13708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Intracellular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8260EE21-5BC3-649B-98A8-0B17644B1384}"/>
                  </a:ext>
                </a:extLst>
              </p:cNvPr>
              <p:cNvSpPr txBox="1"/>
              <p:nvPr/>
            </p:nvSpPr>
            <p:spPr>
              <a:xfrm>
                <a:off x="10195459" y="4168098"/>
                <a:ext cx="8848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8260EE21-5BC3-649B-98A8-0B17644B1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5459" y="4168098"/>
                <a:ext cx="884875" cy="369332"/>
              </a:xfrm>
              <a:prstGeom prst="rect">
                <a:avLst/>
              </a:prstGeom>
              <a:blipFill>
                <a:blip r:embed="rId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4B33BC7C-3ABC-38E6-C91D-80696DE724A2}"/>
                  </a:ext>
                </a:extLst>
              </p:cNvPr>
              <p:cNvSpPr txBox="1"/>
              <p:nvPr/>
            </p:nvSpPr>
            <p:spPr>
              <a:xfrm>
                <a:off x="9270549" y="3689648"/>
                <a:ext cx="924910" cy="3954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deg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⁡_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𝑁𝑜𝑥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4B33BC7C-3ABC-38E6-C91D-80696DE72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549" y="3689648"/>
                <a:ext cx="924910" cy="395493"/>
              </a:xfrm>
              <a:prstGeom prst="rect">
                <a:avLst/>
              </a:prstGeom>
              <a:blipFill>
                <a:blip r:embed="rId3"/>
                <a:stretch>
                  <a:fillRect r="-7947" b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65586397-4839-88B3-CD7B-1846A47E8486}"/>
                  </a:ext>
                </a:extLst>
              </p:cNvPr>
              <p:cNvSpPr txBox="1"/>
              <p:nvPr/>
            </p:nvSpPr>
            <p:spPr>
              <a:xfrm>
                <a:off x="8166250" y="5390165"/>
                <a:ext cx="924910" cy="3954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deg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⁡_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𝐴𝑟𝑔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65586397-4839-88B3-CD7B-1846A47E8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250" y="5390165"/>
                <a:ext cx="924910" cy="395493"/>
              </a:xfrm>
              <a:prstGeom prst="rect">
                <a:avLst/>
              </a:prstGeom>
              <a:blipFill>
                <a:blip r:embed="rId4"/>
                <a:stretch>
                  <a:fillRect r="-7947" b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6800EFBA-1ED1-77ED-F6ED-94F481E940DE}"/>
              </a:ext>
            </a:extLst>
          </p:cNvPr>
          <p:cNvCxnSpPr>
            <a:cxnSpLocks/>
          </p:cNvCxnSpPr>
          <p:nvPr/>
        </p:nvCxnSpPr>
        <p:spPr>
          <a:xfrm>
            <a:off x="9232623" y="3743372"/>
            <a:ext cx="0" cy="424726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5FE8D165-B4FC-8EDB-710A-4F6F4C1D5145}"/>
              </a:ext>
            </a:extLst>
          </p:cNvPr>
          <p:cNvCxnSpPr>
            <a:cxnSpLocks/>
          </p:cNvCxnSpPr>
          <p:nvPr/>
        </p:nvCxnSpPr>
        <p:spPr>
          <a:xfrm>
            <a:off x="8045919" y="5348787"/>
            <a:ext cx="0" cy="573215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51B533DC-19BB-BE16-1F4D-13FA3A762285}"/>
              </a:ext>
            </a:extLst>
          </p:cNvPr>
          <p:cNvCxnSpPr>
            <a:cxnSpLocks/>
          </p:cNvCxnSpPr>
          <p:nvPr/>
        </p:nvCxnSpPr>
        <p:spPr>
          <a:xfrm flipH="1" flipV="1">
            <a:off x="6841972" y="4864207"/>
            <a:ext cx="645427" cy="60988"/>
          </a:xfrm>
          <a:prstGeom prst="straightConnector1">
            <a:avLst/>
          </a:prstGeom>
          <a:ln w="508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Arrow Connector 309">
            <a:extLst>
              <a:ext uri="{FF2B5EF4-FFF2-40B4-BE49-F238E27FC236}">
                <a16:creationId xmlns:a16="http://schemas.microsoft.com/office/drawing/2014/main" id="{0796C2D5-D02F-B832-0499-8214BAF7C280}"/>
              </a:ext>
            </a:extLst>
          </p:cNvPr>
          <p:cNvCxnSpPr>
            <a:cxnSpLocks/>
          </p:cNvCxnSpPr>
          <p:nvPr/>
        </p:nvCxnSpPr>
        <p:spPr>
          <a:xfrm flipH="1">
            <a:off x="8906519" y="4850891"/>
            <a:ext cx="826862" cy="13316"/>
          </a:xfrm>
          <a:prstGeom prst="straightConnector1">
            <a:avLst/>
          </a:prstGeom>
          <a:ln w="508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Oval 310">
            <a:extLst>
              <a:ext uri="{FF2B5EF4-FFF2-40B4-BE49-F238E27FC236}">
                <a16:creationId xmlns:a16="http://schemas.microsoft.com/office/drawing/2014/main" id="{81F7FB47-24DE-2ED9-3055-BFAF93F5A430}"/>
              </a:ext>
            </a:extLst>
          </p:cNvPr>
          <p:cNvSpPr>
            <a:spLocks noChangeAspect="1"/>
          </p:cNvSpPr>
          <p:nvPr/>
        </p:nvSpPr>
        <p:spPr>
          <a:xfrm>
            <a:off x="7112471" y="4715417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B55A952-B765-A751-AFF1-EA9A14EF7E3E}"/>
              </a:ext>
            </a:extLst>
          </p:cNvPr>
          <p:cNvCxnSpPr>
            <a:cxnSpLocks/>
          </p:cNvCxnSpPr>
          <p:nvPr/>
        </p:nvCxnSpPr>
        <p:spPr>
          <a:xfrm>
            <a:off x="10414984" y="4081596"/>
            <a:ext cx="0" cy="49881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3430D57E-D93F-559F-F44B-E01EB2D05689}"/>
              </a:ext>
            </a:extLst>
          </p:cNvPr>
          <p:cNvCxnSpPr>
            <a:cxnSpLocks/>
            <a:stCxn id="233" idx="7"/>
          </p:cNvCxnSpPr>
          <p:nvPr/>
        </p:nvCxnSpPr>
        <p:spPr>
          <a:xfrm flipV="1">
            <a:off x="6654116" y="754785"/>
            <a:ext cx="1621947" cy="3428199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Oval 324">
            <a:extLst>
              <a:ext uri="{FF2B5EF4-FFF2-40B4-BE49-F238E27FC236}">
                <a16:creationId xmlns:a16="http://schemas.microsoft.com/office/drawing/2014/main" id="{957CEC32-6C90-6A42-A129-E3FCD33D5E53}"/>
              </a:ext>
            </a:extLst>
          </p:cNvPr>
          <p:cNvSpPr/>
          <p:nvPr/>
        </p:nvSpPr>
        <p:spPr>
          <a:xfrm>
            <a:off x="10030994" y="5027497"/>
            <a:ext cx="734788" cy="635926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Drug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7B7D51E-052B-2600-5406-AB46BE47885C}"/>
              </a:ext>
            </a:extLst>
          </p:cNvPr>
          <p:cNvSpPr>
            <a:spLocks noChangeAspect="1"/>
          </p:cNvSpPr>
          <p:nvPr/>
        </p:nvSpPr>
        <p:spPr>
          <a:xfrm>
            <a:off x="4801200" y="4221925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95B6C-1F5F-03B5-EA4B-1709317BA4FB}"/>
              </a:ext>
            </a:extLst>
          </p:cNvPr>
          <p:cNvSpPr txBox="1"/>
          <p:nvPr/>
        </p:nvSpPr>
        <p:spPr>
          <a:xfrm>
            <a:off x="6145210" y="3358994"/>
            <a:ext cx="3080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rp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5E0F4-5FC3-0429-6CFA-F2D887FAFB8E}"/>
              </a:ext>
            </a:extLst>
          </p:cNvPr>
          <p:cNvSpPr txBox="1"/>
          <p:nvPr/>
        </p:nvSpPr>
        <p:spPr>
          <a:xfrm>
            <a:off x="6375384" y="5412095"/>
            <a:ext cx="301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ra</a:t>
            </a:r>
            <a:endParaRPr lang="en-US" sz="11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BE4F5EF-58ED-06EC-65A0-11AB8AE06628}"/>
              </a:ext>
            </a:extLst>
          </p:cNvPr>
          <p:cNvCxnSpPr>
            <a:cxnSpLocks/>
            <a:stCxn id="233" idx="7"/>
            <a:endCxn id="4" idx="2"/>
          </p:cNvCxnSpPr>
          <p:nvPr/>
        </p:nvCxnSpPr>
        <p:spPr>
          <a:xfrm flipV="1">
            <a:off x="6654116" y="1689507"/>
            <a:ext cx="3671617" cy="2493477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9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B8BC15-F838-4DA4-96F9-06EF14930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433" y="1172718"/>
            <a:ext cx="5372100" cy="4512564"/>
          </a:xfrm>
          <a:prstGeom prst="rect">
            <a:avLst/>
          </a:prstGeom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04D754-9117-CC44-8927-D30F4F0B1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270" y="643467"/>
            <a:ext cx="452649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313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F43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02D435-AEEB-FB4F-1F57-C0C99DD3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899" y="643467"/>
            <a:ext cx="4610056" cy="55710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F0C467-030F-A54E-58C3-A7EA2C53C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80" y="1547776"/>
            <a:ext cx="5129784" cy="389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119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1B4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01599-38B3-C168-E750-DAE22194D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984" y="643467"/>
            <a:ext cx="5027886" cy="55710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pain pathways&#10;&#10;Description automatically generated with low confidence">
            <a:extLst>
              <a:ext uri="{FF2B5EF4-FFF2-40B4-BE49-F238E27FC236}">
                <a16:creationId xmlns:a16="http://schemas.microsoft.com/office/drawing/2014/main" id="{3D32539F-7521-F2E9-4370-8B5278D67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80" y="1537392"/>
            <a:ext cx="5129784" cy="378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08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5">
            <a:extLst>
              <a:ext uri="{FF2B5EF4-FFF2-40B4-BE49-F238E27FC236}">
                <a16:creationId xmlns:a16="http://schemas.microsoft.com/office/drawing/2014/main" id="{71F6FCE1-8678-40F4-9644-79CD53330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normal endometrium&#10;&#10;Description automatically generated with low confidence">
            <a:extLst>
              <a:ext uri="{FF2B5EF4-FFF2-40B4-BE49-F238E27FC236}">
                <a16:creationId xmlns:a16="http://schemas.microsoft.com/office/drawing/2014/main" id="{2CC8079B-C388-FDC9-3D76-EA71F9343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2" y="84426"/>
            <a:ext cx="4495294" cy="29107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055710-18E3-55F1-802C-93D187352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482" y="258024"/>
            <a:ext cx="4076392" cy="26292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4226D6-DECE-9684-D809-8FC5A8482721}"/>
              </a:ext>
            </a:extLst>
          </p:cNvPr>
          <p:cNvSpPr txBox="1"/>
          <p:nvPr/>
        </p:nvSpPr>
        <p:spPr>
          <a:xfrm>
            <a:off x="8305800" y="1723996"/>
            <a:ext cx="4210049" cy="3946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effectLst/>
              </a:rPr>
              <a:t>In endometriosis, when endometrial tissue grows outside the uterine cavity, progesterone and estrogen signaling are disrupted, commonly resulting in progesterone (P4) resistance and </a:t>
            </a:r>
            <a:r>
              <a:rPr lang="en-US" sz="800" b="0" i="0" dirty="0">
                <a:effectLst/>
                <a:highlight>
                  <a:srgbClr val="00FF00"/>
                </a:highlight>
              </a:rPr>
              <a:t>estrogen(E2) </a:t>
            </a:r>
            <a:r>
              <a:rPr lang="en-US" sz="800" b="0" i="0" dirty="0" err="1">
                <a:effectLst/>
                <a:highlight>
                  <a:srgbClr val="00FF00"/>
                </a:highlight>
              </a:rPr>
              <a:t>dominance.s</a:t>
            </a:r>
            <a:endParaRPr lang="en-US" sz="800" b="0" i="0" dirty="0">
              <a:effectLst/>
              <a:highlight>
                <a:srgbClr val="00FF00"/>
              </a:highlight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 dirty="0">
              <a:highlight>
                <a:srgbClr val="00FF00"/>
              </a:highlight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effectLst/>
              </a:rPr>
              <a:t>E2 induces epithelial proliferation to build endometrial thickness during the proliferative phase of the menstrual cycle, then P4 inhibits E2-induced proliferation and allows stromal cells to begin decidualization during the secretory phase. When the tightly regulated balance of epithelial-stromal P4 and E2 signaling is lost, P4 resistance and E2 dominance are prone to ensue, potentially leading to uterine diseases such as endometriosis</a:t>
            </a:r>
            <a:endParaRPr lang="en-US" sz="800" dirty="0">
              <a:highlight>
                <a:srgbClr val="00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6F9F82-30F0-C945-14F4-C0766EBBB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578" y="2822564"/>
            <a:ext cx="9742569" cy="377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75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116F74-1E85-1C43-3A51-D4B43AF7B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675" y="2405062"/>
            <a:ext cx="4438650" cy="2047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038940-3BB8-A6D4-4F24-E2AC11962450}"/>
              </a:ext>
            </a:extLst>
          </p:cNvPr>
          <p:cNvSpPr txBox="1"/>
          <p:nvPr/>
        </p:nvSpPr>
        <p:spPr>
          <a:xfrm>
            <a:off x="2357534" y="89593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https://www.researchgate.net/publication/338615338_Model-based_exploration_of_the_impact_of_glucose_metabolism_on_the_estrous_cycle_dynamics_in_dairy_cows#pf8</a:t>
            </a:r>
          </a:p>
        </p:txBody>
      </p:sp>
    </p:spTree>
    <p:extLst>
      <p:ext uri="{BB962C8B-B14F-4D97-AF65-F5344CB8AC3E}">
        <p14:creationId xmlns:p14="http://schemas.microsoft.com/office/powerpoint/2010/main" val="97571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87F5A6-3A3F-A130-0E94-410A08F8D400}"/>
              </a:ext>
            </a:extLst>
          </p:cNvPr>
          <p:cNvSpPr/>
          <p:nvPr/>
        </p:nvSpPr>
        <p:spPr>
          <a:xfrm>
            <a:off x="2096146" y="2697277"/>
            <a:ext cx="727787" cy="4012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ER-a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C7B83F0-9CF3-0BC5-75E6-83701315C98D}"/>
              </a:ext>
            </a:extLst>
          </p:cNvPr>
          <p:cNvCxnSpPr>
            <a:cxnSpLocks/>
          </p:cNvCxnSpPr>
          <p:nvPr/>
        </p:nvCxnSpPr>
        <p:spPr>
          <a:xfrm>
            <a:off x="2210411" y="3171705"/>
            <a:ext cx="28586" cy="955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F036B356-A9B6-4B08-8F1C-42A7D4782EBA}"/>
              </a:ext>
            </a:extLst>
          </p:cNvPr>
          <p:cNvSpPr/>
          <p:nvPr/>
        </p:nvSpPr>
        <p:spPr>
          <a:xfrm>
            <a:off x="1899677" y="2224487"/>
            <a:ext cx="597160" cy="55050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AF809A9-C8A7-24BF-25BA-9D6B362A6B07}"/>
              </a:ext>
            </a:extLst>
          </p:cNvPr>
          <p:cNvSpPr/>
          <p:nvPr/>
        </p:nvSpPr>
        <p:spPr>
          <a:xfrm>
            <a:off x="2100624" y="4235395"/>
            <a:ext cx="970384" cy="5318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lesion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B1105DA-9C09-A751-28C8-07FB5DB144CA}"/>
              </a:ext>
            </a:extLst>
          </p:cNvPr>
          <p:cNvSpPr>
            <a:spLocks noChangeAspect="1"/>
          </p:cNvSpPr>
          <p:nvPr/>
        </p:nvSpPr>
        <p:spPr>
          <a:xfrm>
            <a:off x="1943751" y="3519227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437EE-D937-4B33-72BB-C806D71146CC}"/>
              </a:ext>
            </a:extLst>
          </p:cNvPr>
          <p:cNvSpPr txBox="1"/>
          <p:nvPr/>
        </p:nvSpPr>
        <p:spPr>
          <a:xfrm>
            <a:off x="1454491" y="3759507"/>
            <a:ext cx="13995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proliferation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D60305E-3507-06E0-CC33-7F417215B000}"/>
              </a:ext>
            </a:extLst>
          </p:cNvPr>
          <p:cNvCxnSpPr>
            <a:cxnSpLocks/>
          </p:cNvCxnSpPr>
          <p:nvPr/>
        </p:nvCxnSpPr>
        <p:spPr>
          <a:xfrm>
            <a:off x="2854083" y="3129354"/>
            <a:ext cx="1966492" cy="73243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4B8CEF7-526B-C231-41D5-A05150802C5A}"/>
              </a:ext>
            </a:extLst>
          </p:cNvPr>
          <p:cNvSpPr/>
          <p:nvPr/>
        </p:nvSpPr>
        <p:spPr>
          <a:xfrm>
            <a:off x="4917233" y="3405668"/>
            <a:ext cx="1178767" cy="55050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PGR-A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D178B4-4115-FE85-E833-E992DE24B7DE}"/>
              </a:ext>
            </a:extLst>
          </p:cNvPr>
          <p:cNvSpPr/>
          <p:nvPr/>
        </p:nvSpPr>
        <p:spPr>
          <a:xfrm>
            <a:off x="5349551" y="3035559"/>
            <a:ext cx="597160" cy="55050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P4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1DFB68A-0B4A-19B4-632F-E6AEFE872475}"/>
              </a:ext>
            </a:extLst>
          </p:cNvPr>
          <p:cNvSpPr>
            <a:spLocks noChangeAspect="1"/>
          </p:cNvSpPr>
          <p:nvPr/>
        </p:nvSpPr>
        <p:spPr>
          <a:xfrm>
            <a:off x="3808061" y="3381602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F6107BC-DE29-2DA3-B4B0-ADDBCDD469DB}"/>
              </a:ext>
            </a:extLst>
          </p:cNvPr>
          <p:cNvCxnSpPr>
            <a:cxnSpLocks/>
          </p:cNvCxnSpPr>
          <p:nvPr/>
        </p:nvCxnSpPr>
        <p:spPr>
          <a:xfrm flipH="1">
            <a:off x="2828874" y="2990166"/>
            <a:ext cx="847040" cy="113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B77BC60-A49E-0424-95F6-ACED14BF182F}"/>
              </a:ext>
            </a:extLst>
          </p:cNvPr>
          <p:cNvSpPr/>
          <p:nvPr/>
        </p:nvSpPr>
        <p:spPr>
          <a:xfrm>
            <a:off x="3450747" y="1978000"/>
            <a:ext cx="790955" cy="55050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igf1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705166-FD43-C2E0-F644-92356CCA8495}"/>
              </a:ext>
            </a:extLst>
          </p:cNvPr>
          <p:cNvCxnSpPr>
            <a:cxnSpLocks/>
          </p:cNvCxnSpPr>
          <p:nvPr/>
        </p:nvCxnSpPr>
        <p:spPr>
          <a:xfrm>
            <a:off x="4186518" y="2204196"/>
            <a:ext cx="1476548" cy="7850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B3101DD-6185-F878-FA37-1C3CC53F097E}"/>
              </a:ext>
            </a:extLst>
          </p:cNvPr>
          <p:cNvSpPr>
            <a:spLocks noChangeAspect="1"/>
          </p:cNvSpPr>
          <p:nvPr/>
        </p:nvSpPr>
        <p:spPr>
          <a:xfrm>
            <a:off x="5081231" y="2450782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1F5392C-AA63-956B-B279-C1100B79AF19}"/>
              </a:ext>
            </a:extLst>
          </p:cNvPr>
          <p:cNvSpPr/>
          <p:nvPr/>
        </p:nvSpPr>
        <p:spPr>
          <a:xfrm>
            <a:off x="1996751" y="354563"/>
            <a:ext cx="6428792" cy="6739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SECRETORY/LUTEAL phase when P4 is high and E2 low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FAE24C8-A7E1-3E11-E1DD-3E72A0C96ECD}"/>
              </a:ext>
            </a:extLst>
          </p:cNvPr>
          <p:cNvSpPr>
            <a:spLocks noChangeAspect="1"/>
          </p:cNvSpPr>
          <p:nvPr/>
        </p:nvSpPr>
        <p:spPr>
          <a:xfrm>
            <a:off x="3814281" y="3390590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3E280F-C0BE-419C-2593-6C57C1D00833}"/>
              </a:ext>
            </a:extLst>
          </p:cNvPr>
          <p:cNvCxnSpPr>
            <a:cxnSpLocks/>
          </p:cNvCxnSpPr>
          <p:nvPr/>
        </p:nvCxnSpPr>
        <p:spPr>
          <a:xfrm flipV="1">
            <a:off x="5980047" y="2072006"/>
            <a:ext cx="553651" cy="10684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C3C8639F-D419-2BDA-B950-23E1781F24FB}"/>
              </a:ext>
            </a:extLst>
          </p:cNvPr>
          <p:cNvSpPr>
            <a:spLocks noChangeAspect="1"/>
          </p:cNvSpPr>
          <p:nvPr/>
        </p:nvSpPr>
        <p:spPr>
          <a:xfrm>
            <a:off x="6309055" y="2455849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F5E95C3-4B7F-FCBA-BE7A-0E9B6D134349}"/>
              </a:ext>
            </a:extLst>
          </p:cNvPr>
          <p:cNvSpPr/>
          <p:nvPr/>
        </p:nvSpPr>
        <p:spPr>
          <a:xfrm>
            <a:off x="6096000" y="1596979"/>
            <a:ext cx="1018978" cy="4211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IGFBP-1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52F320C-E863-F251-7B88-A9D3C9DE7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450" y="3429000"/>
            <a:ext cx="4948276" cy="2923981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B1C8AC8D-F025-72BD-240D-9E82EFB4ACF7}"/>
              </a:ext>
            </a:extLst>
          </p:cNvPr>
          <p:cNvSpPr>
            <a:spLocks noChangeAspect="1"/>
          </p:cNvSpPr>
          <p:nvPr/>
        </p:nvSpPr>
        <p:spPr>
          <a:xfrm>
            <a:off x="2981983" y="3501599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84B0471-0ACD-8CA8-CF1B-5D68C1494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873" y="302381"/>
            <a:ext cx="2461532" cy="2771192"/>
          </a:xfrm>
          <a:prstGeom prst="rect">
            <a:avLst/>
          </a:prstGeom>
        </p:spPr>
      </p:pic>
      <p:sp>
        <p:nvSpPr>
          <p:cNvPr id="46" name="Plus Sign 45">
            <a:extLst>
              <a:ext uri="{FF2B5EF4-FFF2-40B4-BE49-F238E27FC236}">
                <a16:creationId xmlns:a16="http://schemas.microsoft.com/office/drawing/2014/main" id="{AF85DE0C-718B-2136-56EE-9CDD063660CE}"/>
              </a:ext>
            </a:extLst>
          </p:cNvPr>
          <p:cNvSpPr/>
          <p:nvPr/>
        </p:nvSpPr>
        <p:spPr>
          <a:xfrm>
            <a:off x="2938163" y="2663800"/>
            <a:ext cx="419887" cy="383047"/>
          </a:xfrm>
          <a:prstGeom prst="math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F951C77-3904-697C-F269-DDF77E81B37E}"/>
              </a:ext>
            </a:extLst>
          </p:cNvPr>
          <p:cNvSpPr/>
          <p:nvPr/>
        </p:nvSpPr>
        <p:spPr>
          <a:xfrm>
            <a:off x="5736810" y="3129354"/>
            <a:ext cx="1378168" cy="2243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Resistance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771D819-CA8A-591A-5F2B-D449FBBE575C}"/>
              </a:ext>
            </a:extLst>
          </p:cNvPr>
          <p:cNvSpPr/>
          <p:nvPr/>
        </p:nvSpPr>
        <p:spPr>
          <a:xfrm>
            <a:off x="5551233" y="1253184"/>
            <a:ext cx="790955" cy="55050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igf1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12BF12C-B9F3-E959-01E5-2F7BB5069CD9}"/>
              </a:ext>
            </a:extLst>
          </p:cNvPr>
          <p:cNvSpPr/>
          <p:nvPr/>
        </p:nvSpPr>
        <p:spPr>
          <a:xfrm>
            <a:off x="9680014" y="5474041"/>
            <a:ext cx="737250" cy="2642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IL1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11F22E9-4316-A484-1DCE-CCE90DFA18F0}"/>
              </a:ext>
            </a:extLst>
          </p:cNvPr>
          <p:cNvSpPr/>
          <p:nvPr/>
        </p:nvSpPr>
        <p:spPr>
          <a:xfrm>
            <a:off x="3549792" y="2502841"/>
            <a:ext cx="1178767" cy="55050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IGFR</a:t>
            </a:r>
          </a:p>
        </p:txBody>
      </p:sp>
    </p:spTree>
    <p:extLst>
      <p:ext uri="{BB962C8B-B14F-4D97-AF65-F5344CB8AC3E}">
        <p14:creationId xmlns:p14="http://schemas.microsoft.com/office/powerpoint/2010/main" val="2954694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>
            <a:extLst>
              <a:ext uri="{FF2B5EF4-FFF2-40B4-BE49-F238E27FC236}">
                <a16:creationId xmlns:a16="http://schemas.microsoft.com/office/drawing/2014/main" id="{12B27B7A-BBB3-E603-27F0-8B78C06EA21F}"/>
              </a:ext>
            </a:extLst>
          </p:cNvPr>
          <p:cNvSpPr/>
          <p:nvPr/>
        </p:nvSpPr>
        <p:spPr>
          <a:xfrm>
            <a:off x="10083177" y="894635"/>
            <a:ext cx="1780309" cy="4167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7848102-D8F3-55C3-E697-7856B92BCF9B}"/>
              </a:ext>
            </a:extLst>
          </p:cNvPr>
          <p:cNvSpPr/>
          <p:nvPr/>
        </p:nvSpPr>
        <p:spPr>
          <a:xfrm>
            <a:off x="2022526" y="3463876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Pain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8D1F42-BD1C-FB66-3E58-096F0BB5C947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590084" y="2014189"/>
            <a:ext cx="1" cy="1449687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1F501C-34A0-57AA-4989-36AC27B526A1}"/>
              </a:ext>
            </a:extLst>
          </p:cNvPr>
          <p:cNvCxnSpPr>
            <a:cxnSpLocks/>
          </p:cNvCxnSpPr>
          <p:nvPr/>
        </p:nvCxnSpPr>
        <p:spPr>
          <a:xfrm flipH="1">
            <a:off x="2590083" y="4315214"/>
            <a:ext cx="1" cy="49819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191D7CD-BC61-0422-726B-063C427DE77A}"/>
              </a:ext>
            </a:extLst>
          </p:cNvPr>
          <p:cNvSpPr/>
          <p:nvPr/>
        </p:nvSpPr>
        <p:spPr>
          <a:xfrm>
            <a:off x="7766668" y="3772536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Tissue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(insensitive)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F5F880-85EE-A228-FE01-C1CC00E319A0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690472" y="3386152"/>
            <a:ext cx="643755" cy="386384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D36AC76-64F2-46EC-2375-BEC36F1178E2}"/>
              </a:ext>
            </a:extLst>
          </p:cNvPr>
          <p:cNvCxnSpPr>
            <a:cxnSpLocks/>
            <a:stCxn id="11" idx="4"/>
          </p:cNvCxnSpPr>
          <p:nvPr/>
        </p:nvCxnSpPr>
        <p:spPr>
          <a:xfrm flipH="1">
            <a:off x="8334226" y="4623874"/>
            <a:ext cx="1" cy="49819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F5C74B-A95B-48F6-9173-69ABC955FC1F}"/>
              </a:ext>
            </a:extLst>
          </p:cNvPr>
          <p:cNvSpPr/>
          <p:nvPr/>
        </p:nvSpPr>
        <p:spPr>
          <a:xfrm>
            <a:off x="2334102" y="5916366"/>
            <a:ext cx="2617076" cy="85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Outcome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D5CF04B-FDA3-5469-0FB0-1209F7EE57D7}"/>
              </a:ext>
            </a:extLst>
          </p:cNvPr>
          <p:cNvCxnSpPr>
            <a:stCxn id="4" idx="5"/>
            <a:endCxn id="14" idx="0"/>
          </p:cNvCxnSpPr>
          <p:nvPr/>
        </p:nvCxnSpPr>
        <p:spPr>
          <a:xfrm>
            <a:off x="2991409" y="4190538"/>
            <a:ext cx="651231" cy="1725828"/>
          </a:xfrm>
          <a:prstGeom prst="straightConnector1">
            <a:avLst/>
          </a:prstGeom>
          <a:ln w="254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37332A-79BA-3142-7875-88F1D6FE709E}"/>
              </a:ext>
            </a:extLst>
          </p:cNvPr>
          <p:cNvCxnSpPr>
            <a:cxnSpLocks/>
            <a:stCxn id="140" idx="3"/>
            <a:endCxn id="14" idx="3"/>
          </p:cNvCxnSpPr>
          <p:nvPr/>
        </p:nvCxnSpPr>
        <p:spPr>
          <a:xfrm flipH="1">
            <a:off x="4951178" y="4506602"/>
            <a:ext cx="1555871" cy="1835433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322FEF25-FD75-2A59-CFF7-CBBAA8BEB1AC}"/>
              </a:ext>
            </a:extLst>
          </p:cNvPr>
          <p:cNvSpPr/>
          <p:nvPr/>
        </p:nvSpPr>
        <p:spPr>
          <a:xfrm>
            <a:off x="4772069" y="2543751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IGF1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DE4DB1-27B7-3F40-D4DD-B931A531A82E}"/>
              </a:ext>
            </a:extLst>
          </p:cNvPr>
          <p:cNvSpPr/>
          <p:nvPr/>
        </p:nvSpPr>
        <p:spPr>
          <a:xfrm>
            <a:off x="5589487" y="560004"/>
            <a:ext cx="817418" cy="59574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PAPPA2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B12E55A-5B7A-E448-BBD8-F66DA5EB7A70}"/>
              </a:ext>
            </a:extLst>
          </p:cNvPr>
          <p:cNvCxnSpPr>
            <a:cxnSpLocks/>
            <a:stCxn id="20" idx="2"/>
            <a:endCxn id="72" idx="6"/>
          </p:cNvCxnSpPr>
          <p:nvPr/>
        </p:nvCxnSpPr>
        <p:spPr>
          <a:xfrm flipH="1" flipV="1">
            <a:off x="2666281" y="2841623"/>
            <a:ext cx="2105788" cy="1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568FC11-853A-8636-A244-17E7DF039564}"/>
              </a:ext>
            </a:extLst>
          </p:cNvPr>
          <p:cNvCxnSpPr>
            <a:cxnSpLocks/>
            <a:stCxn id="20" idx="6"/>
            <a:endCxn id="70" idx="2"/>
          </p:cNvCxnSpPr>
          <p:nvPr/>
        </p:nvCxnSpPr>
        <p:spPr>
          <a:xfrm>
            <a:off x="5589487" y="2841624"/>
            <a:ext cx="1927322" cy="14007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FC48AC4-1681-5818-D20D-98A27EDDECC8}"/>
              </a:ext>
            </a:extLst>
          </p:cNvPr>
          <p:cNvSpPr/>
          <p:nvPr/>
        </p:nvSpPr>
        <p:spPr>
          <a:xfrm>
            <a:off x="3304072" y="1121744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IGF1-BP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EA5746-2A0D-2ADB-CF19-5165480A0648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3712781" y="523616"/>
            <a:ext cx="0" cy="59812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86F9FF-CB90-8B21-EDD5-0FFEFB0480BD}"/>
              </a:ext>
            </a:extLst>
          </p:cNvPr>
          <p:cNvCxnSpPr>
            <a:cxnSpLocks/>
          </p:cNvCxnSpPr>
          <p:nvPr/>
        </p:nvCxnSpPr>
        <p:spPr>
          <a:xfrm>
            <a:off x="5981043" y="193964"/>
            <a:ext cx="0" cy="36604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3E1F3CE-13C0-2C8A-3AC5-1B7FEDF51223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3712781" y="1717489"/>
            <a:ext cx="0" cy="583561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1841E0B-8C3C-E99C-B611-6A04D472BB57}"/>
              </a:ext>
            </a:extLst>
          </p:cNvPr>
          <p:cNvCxnSpPr>
            <a:cxnSpLocks/>
          </p:cNvCxnSpPr>
          <p:nvPr/>
        </p:nvCxnSpPr>
        <p:spPr>
          <a:xfrm>
            <a:off x="5981043" y="1159140"/>
            <a:ext cx="0" cy="55834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E91870F-B10E-F3BF-88A6-2F5C82DFE6FD}"/>
              </a:ext>
            </a:extLst>
          </p:cNvPr>
          <p:cNvCxnSpPr>
            <a:cxnSpLocks/>
            <a:stCxn id="21" idx="2"/>
            <a:endCxn id="67" idx="7"/>
          </p:cNvCxnSpPr>
          <p:nvPr/>
        </p:nvCxnSpPr>
        <p:spPr>
          <a:xfrm flipH="1">
            <a:off x="4312869" y="857877"/>
            <a:ext cx="1276618" cy="1018709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7ACF73-6D0A-E823-81D2-385CB6CD17D9}"/>
              </a:ext>
            </a:extLst>
          </p:cNvPr>
          <p:cNvCxnSpPr>
            <a:cxnSpLocks/>
          </p:cNvCxnSpPr>
          <p:nvPr/>
        </p:nvCxnSpPr>
        <p:spPr>
          <a:xfrm>
            <a:off x="5176372" y="3139496"/>
            <a:ext cx="0" cy="55834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AE7AB1-354C-57EE-A046-47E5DF0C0298}"/>
              </a:ext>
            </a:extLst>
          </p:cNvPr>
          <p:cNvCxnSpPr>
            <a:cxnSpLocks/>
            <a:stCxn id="29" idx="5"/>
            <a:endCxn id="20" idx="1"/>
          </p:cNvCxnSpPr>
          <p:nvPr/>
        </p:nvCxnSpPr>
        <p:spPr>
          <a:xfrm>
            <a:off x="4001782" y="1630244"/>
            <a:ext cx="889995" cy="1000752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A309D12-311C-85A1-B3FF-366FCF965080}"/>
              </a:ext>
            </a:extLst>
          </p:cNvPr>
          <p:cNvCxnSpPr>
            <a:cxnSpLocks/>
          </p:cNvCxnSpPr>
          <p:nvPr/>
        </p:nvCxnSpPr>
        <p:spPr>
          <a:xfrm>
            <a:off x="5155352" y="1945623"/>
            <a:ext cx="0" cy="59812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168D640A-7159-5ADC-01F6-11FEC796F5E5}"/>
              </a:ext>
            </a:extLst>
          </p:cNvPr>
          <p:cNvSpPr>
            <a:spLocks noChangeAspect="1"/>
          </p:cNvSpPr>
          <p:nvPr/>
        </p:nvSpPr>
        <p:spPr>
          <a:xfrm>
            <a:off x="4182792" y="1853821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D5577E2-D8F1-F394-782B-0308B15BB43E}"/>
              </a:ext>
            </a:extLst>
          </p:cNvPr>
          <p:cNvSpPr>
            <a:spLocks noChangeAspect="1"/>
          </p:cNvSpPr>
          <p:nvPr/>
        </p:nvSpPr>
        <p:spPr>
          <a:xfrm>
            <a:off x="2513886" y="2763899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8D4F248-562E-66BB-CCBB-2403898D606A}"/>
              </a:ext>
            </a:extLst>
          </p:cNvPr>
          <p:cNvSpPr/>
          <p:nvPr/>
        </p:nvSpPr>
        <p:spPr>
          <a:xfrm>
            <a:off x="8759911" y="564302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PAPPA2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35F3B8C-1F8D-1F50-3A75-F3F408E08505}"/>
              </a:ext>
            </a:extLst>
          </p:cNvPr>
          <p:cNvCxnSpPr>
            <a:stCxn id="21" idx="6"/>
            <a:endCxn id="75" idx="2"/>
          </p:cNvCxnSpPr>
          <p:nvPr/>
        </p:nvCxnSpPr>
        <p:spPr>
          <a:xfrm>
            <a:off x="6406905" y="857877"/>
            <a:ext cx="2353006" cy="4298"/>
          </a:xfrm>
          <a:prstGeom prst="straightConnector1">
            <a:avLst/>
          </a:prstGeom>
          <a:ln w="254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1614A83-D729-B02A-53E8-79BBB4E4A831}"/>
              </a:ext>
            </a:extLst>
          </p:cNvPr>
          <p:cNvSpPr txBox="1"/>
          <p:nvPr/>
        </p:nvSpPr>
        <p:spPr>
          <a:xfrm>
            <a:off x="8160566" y="376984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F14E450-7B90-736C-BFAF-A3530BD096B8}"/>
              </a:ext>
            </a:extLst>
          </p:cNvPr>
          <p:cNvSpPr txBox="1"/>
          <p:nvPr/>
        </p:nvSpPr>
        <p:spPr>
          <a:xfrm>
            <a:off x="9265759" y="342348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Y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0C299D5-F9D3-2802-DB2D-6331C13614A3}"/>
              </a:ext>
            </a:extLst>
          </p:cNvPr>
          <p:cNvCxnSpPr>
            <a:cxnSpLocks/>
          </p:cNvCxnSpPr>
          <p:nvPr/>
        </p:nvCxnSpPr>
        <p:spPr>
          <a:xfrm>
            <a:off x="9168620" y="1159140"/>
            <a:ext cx="0" cy="55834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09D20C30-B172-8163-2881-882DBEED2854}"/>
              </a:ext>
            </a:extLst>
          </p:cNvPr>
          <p:cNvSpPr/>
          <p:nvPr/>
        </p:nvSpPr>
        <p:spPr>
          <a:xfrm>
            <a:off x="9265759" y="2265341"/>
            <a:ext cx="1389687" cy="462686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Estrogen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626D3E6-A3AB-5134-A917-CD65E9FE772A}"/>
              </a:ext>
            </a:extLst>
          </p:cNvPr>
          <p:cNvSpPr/>
          <p:nvPr/>
        </p:nvSpPr>
        <p:spPr>
          <a:xfrm>
            <a:off x="9265758" y="3252338"/>
            <a:ext cx="1389687" cy="462686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Progesterone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240F20B-1128-76B2-AD6E-6F33EE8681C0}"/>
              </a:ext>
            </a:extLst>
          </p:cNvPr>
          <p:cNvCxnSpPr>
            <a:stCxn id="102" idx="3"/>
            <a:endCxn id="103" idx="1"/>
          </p:cNvCxnSpPr>
          <p:nvPr/>
        </p:nvCxnSpPr>
        <p:spPr>
          <a:xfrm flipH="1">
            <a:off x="9469273" y="2660268"/>
            <a:ext cx="1" cy="659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E3E048D-4E2F-06F6-8693-B7278E3934E6}"/>
              </a:ext>
            </a:extLst>
          </p:cNvPr>
          <p:cNvCxnSpPr>
            <a:cxnSpLocks/>
            <a:stCxn id="103" idx="7"/>
            <a:endCxn id="102" idx="5"/>
          </p:cNvCxnSpPr>
          <p:nvPr/>
        </p:nvCxnSpPr>
        <p:spPr>
          <a:xfrm flipV="1">
            <a:off x="10451930" y="2660268"/>
            <a:ext cx="1" cy="6598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9AE2F7E-A68C-34E5-582A-A73CA8495A44}"/>
              </a:ext>
            </a:extLst>
          </p:cNvPr>
          <p:cNvCxnSpPr>
            <a:cxnSpLocks/>
          </p:cNvCxnSpPr>
          <p:nvPr/>
        </p:nvCxnSpPr>
        <p:spPr>
          <a:xfrm flipH="1" flipV="1">
            <a:off x="7598628" y="2497115"/>
            <a:ext cx="1667130" cy="2743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966E026F-3469-3886-1556-F1A5C7D6E189}"/>
              </a:ext>
            </a:extLst>
          </p:cNvPr>
          <p:cNvSpPr>
            <a:spLocks noChangeAspect="1"/>
          </p:cNvSpPr>
          <p:nvPr/>
        </p:nvSpPr>
        <p:spPr>
          <a:xfrm>
            <a:off x="10375732" y="2582544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4955DBB-A069-3470-CA7D-0D45BB3EB328}"/>
              </a:ext>
            </a:extLst>
          </p:cNvPr>
          <p:cNvSpPr/>
          <p:nvPr/>
        </p:nvSpPr>
        <p:spPr>
          <a:xfrm>
            <a:off x="9053946" y="2009269"/>
            <a:ext cx="1870096" cy="20085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7F80AB5-1BDE-C8DD-1760-40DDA7B43866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5589487" y="2841624"/>
            <a:ext cx="3676271" cy="622755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C1B09548-EF0D-478F-CB73-6105B1F56A82}"/>
              </a:ext>
            </a:extLst>
          </p:cNvPr>
          <p:cNvSpPr>
            <a:spLocks noChangeAspect="1"/>
          </p:cNvSpPr>
          <p:nvPr/>
        </p:nvSpPr>
        <p:spPr>
          <a:xfrm>
            <a:off x="9197835" y="3386152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23098A3E-D67F-0CE0-965E-EC079F79243C}"/>
              </a:ext>
            </a:extLst>
          </p:cNvPr>
          <p:cNvCxnSpPr>
            <a:cxnSpLocks/>
            <a:stCxn id="140" idx="2"/>
            <a:endCxn id="4" idx="6"/>
          </p:cNvCxnSpPr>
          <p:nvPr/>
        </p:nvCxnSpPr>
        <p:spPr>
          <a:xfrm flipH="1" flipV="1">
            <a:off x="3157643" y="3889545"/>
            <a:ext cx="3183172" cy="31606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FA7BE630-B2FB-FCB1-1D56-5345B3DD8DC2}"/>
              </a:ext>
            </a:extLst>
          </p:cNvPr>
          <p:cNvSpPr/>
          <p:nvPr/>
        </p:nvSpPr>
        <p:spPr>
          <a:xfrm>
            <a:off x="7680268" y="6006662"/>
            <a:ext cx="2617076" cy="85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Infertility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014DCCDD-6190-CE9E-C5BB-54D5C6BF0EC3}"/>
              </a:ext>
            </a:extLst>
          </p:cNvPr>
          <p:cNvCxnSpPr>
            <a:cxnSpLocks/>
            <a:stCxn id="11" idx="5"/>
            <a:endCxn id="133" idx="0"/>
          </p:cNvCxnSpPr>
          <p:nvPr/>
        </p:nvCxnSpPr>
        <p:spPr>
          <a:xfrm>
            <a:off x="8735551" y="4499198"/>
            <a:ext cx="253255" cy="150746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BA5087CA-1FB2-F8DD-1FFD-5C62111A5565}"/>
              </a:ext>
            </a:extLst>
          </p:cNvPr>
          <p:cNvSpPr/>
          <p:nvPr/>
        </p:nvSpPr>
        <p:spPr>
          <a:xfrm>
            <a:off x="6340815" y="3779940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Tissue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(sensitive)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E786A529-972C-91AD-4D6E-228DEF6BB795}"/>
              </a:ext>
            </a:extLst>
          </p:cNvPr>
          <p:cNvCxnSpPr>
            <a:cxnSpLocks/>
            <a:stCxn id="140" idx="4"/>
          </p:cNvCxnSpPr>
          <p:nvPr/>
        </p:nvCxnSpPr>
        <p:spPr>
          <a:xfrm flipH="1">
            <a:off x="6908373" y="4631278"/>
            <a:ext cx="1" cy="49819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D159C283-E4ED-1EA6-5E52-8E08B5F9FCF5}"/>
              </a:ext>
            </a:extLst>
          </p:cNvPr>
          <p:cNvCxnSpPr>
            <a:cxnSpLocks/>
            <a:endCxn id="140" idx="0"/>
          </p:cNvCxnSpPr>
          <p:nvPr/>
        </p:nvCxnSpPr>
        <p:spPr>
          <a:xfrm flipH="1">
            <a:off x="6908374" y="3386152"/>
            <a:ext cx="697626" cy="39378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965F3ED2-E8E4-3E87-C1FC-8CCBB93B8E54}"/>
              </a:ext>
            </a:extLst>
          </p:cNvPr>
          <p:cNvCxnSpPr>
            <a:cxnSpLocks/>
            <a:stCxn id="140" idx="5"/>
            <a:endCxn id="133" idx="0"/>
          </p:cNvCxnSpPr>
          <p:nvPr/>
        </p:nvCxnSpPr>
        <p:spPr>
          <a:xfrm>
            <a:off x="7309698" y="4506602"/>
            <a:ext cx="1679108" cy="150006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97BE18CA-AAD4-93B0-B974-B053E6674FBB}"/>
              </a:ext>
            </a:extLst>
          </p:cNvPr>
          <p:cNvCxnSpPr>
            <a:cxnSpLocks/>
            <a:stCxn id="11" idx="3"/>
            <a:endCxn id="14" idx="3"/>
          </p:cNvCxnSpPr>
          <p:nvPr/>
        </p:nvCxnSpPr>
        <p:spPr>
          <a:xfrm flipH="1">
            <a:off x="4951178" y="4499198"/>
            <a:ext cx="2981724" cy="1842837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0AEBCF86-910E-EB6D-B833-AADEDAD09E63}"/>
              </a:ext>
            </a:extLst>
          </p:cNvPr>
          <p:cNvCxnSpPr>
            <a:cxnSpLocks/>
          </p:cNvCxnSpPr>
          <p:nvPr/>
        </p:nvCxnSpPr>
        <p:spPr>
          <a:xfrm>
            <a:off x="7598627" y="1725858"/>
            <a:ext cx="47492" cy="1707711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2CAA874B-8FA3-0A63-F752-5DC14D15A99D}"/>
              </a:ext>
            </a:extLst>
          </p:cNvPr>
          <p:cNvSpPr/>
          <p:nvPr/>
        </p:nvSpPr>
        <p:spPr>
          <a:xfrm>
            <a:off x="2448433" y="451898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BP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1C9D511-1762-0AAF-1178-53142DB09340}"/>
              </a:ext>
            </a:extLst>
          </p:cNvPr>
          <p:cNvSpPr txBox="1"/>
          <p:nvPr/>
        </p:nvSpPr>
        <p:spPr>
          <a:xfrm>
            <a:off x="5099598" y="329064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10-30 min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E2B5C70-0B6F-FB70-6D56-3A03BC3E3AF5}"/>
              </a:ext>
            </a:extLst>
          </p:cNvPr>
          <p:cNvSpPr txBox="1"/>
          <p:nvPr/>
        </p:nvSpPr>
        <p:spPr>
          <a:xfrm>
            <a:off x="2978636" y="1850039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Days ?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A81F972-DA7B-8303-2655-62C84184A68E}"/>
              </a:ext>
            </a:extLst>
          </p:cNvPr>
          <p:cNvSpPr>
            <a:spLocks noChangeAspect="1"/>
          </p:cNvSpPr>
          <p:nvPr/>
        </p:nvSpPr>
        <p:spPr>
          <a:xfrm>
            <a:off x="7516809" y="2777907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9B656943-6D95-FBA4-B1CB-523D6AF7ADFE}"/>
              </a:ext>
            </a:extLst>
          </p:cNvPr>
          <p:cNvSpPr>
            <a:spLocks noChangeAspect="1"/>
          </p:cNvSpPr>
          <p:nvPr/>
        </p:nvSpPr>
        <p:spPr>
          <a:xfrm>
            <a:off x="7507210" y="2416318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DF78D94E-2DAA-268D-B6BD-18B18C773AA3}"/>
              </a:ext>
            </a:extLst>
          </p:cNvPr>
          <p:cNvSpPr/>
          <p:nvPr/>
        </p:nvSpPr>
        <p:spPr>
          <a:xfrm>
            <a:off x="6369752" y="1822914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SLC7A3</a:t>
            </a: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1226FBA-1726-6D84-AF74-5C9644E7AFEA}"/>
              </a:ext>
            </a:extLst>
          </p:cNvPr>
          <p:cNvCxnSpPr>
            <a:cxnSpLocks/>
            <a:stCxn id="170" idx="6"/>
          </p:cNvCxnSpPr>
          <p:nvPr/>
        </p:nvCxnSpPr>
        <p:spPr>
          <a:xfrm>
            <a:off x="7187170" y="2120787"/>
            <a:ext cx="418830" cy="8307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Oval 172">
            <a:extLst>
              <a:ext uri="{FF2B5EF4-FFF2-40B4-BE49-F238E27FC236}">
                <a16:creationId xmlns:a16="http://schemas.microsoft.com/office/drawing/2014/main" id="{030F795F-23E0-569E-8085-35BCAFBC2219}"/>
              </a:ext>
            </a:extLst>
          </p:cNvPr>
          <p:cNvSpPr>
            <a:spLocks noChangeAspect="1"/>
          </p:cNvSpPr>
          <p:nvPr/>
        </p:nvSpPr>
        <p:spPr>
          <a:xfrm>
            <a:off x="7527873" y="2056056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3D257BFC-545E-1ABD-6D20-987F3D565760}"/>
              </a:ext>
            </a:extLst>
          </p:cNvPr>
          <p:cNvSpPr/>
          <p:nvPr/>
        </p:nvSpPr>
        <p:spPr>
          <a:xfrm>
            <a:off x="4253478" y="4495260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Nox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ABAB7C3D-5C1C-B3E0-5B14-CF8F027BF8B6}"/>
              </a:ext>
            </a:extLst>
          </p:cNvPr>
          <p:cNvCxnSpPr>
            <a:stCxn id="170" idx="3"/>
          </p:cNvCxnSpPr>
          <p:nvPr/>
        </p:nvCxnSpPr>
        <p:spPr>
          <a:xfrm flipH="1">
            <a:off x="4891777" y="2331414"/>
            <a:ext cx="1597683" cy="2163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EB5550BB-7DB6-216C-06C3-B9F947D63A4B}"/>
              </a:ext>
            </a:extLst>
          </p:cNvPr>
          <p:cNvCxnSpPr>
            <a:cxnSpLocks/>
            <a:stCxn id="174" idx="2"/>
            <a:endCxn id="4" idx="5"/>
          </p:cNvCxnSpPr>
          <p:nvPr/>
        </p:nvCxnSpPr>
        <p:spPr>
          <a:xfrm flipH="1" flipV="1">
            <a:off x="2991409" y="4190538"/>
            <a:ext cx="1262069" cy="602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460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7848102-D8F3-55C3-E697-7856B92BCF9B}"/>
              </a:ext>
            </a:extLst>
          </p:cNvPr>
          <p:cNvSpPr/>
          <p:nvPr/>
        </p:nvSpPr>
        <p:spPr>
          <a:xfrm>
            <a:off x="2022526" y="3463876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Pain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8D1F42-BD1C-FB66-3E58-096F0BB5C947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590084" y="2014189"/>
            <a:ext cx="1" cy="1449687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1F501C-34A0-57AA-4989-36AC27B526A1}"/>
              </a:ext>
            </a:extLst>
          </p:cNvPr>
          <p:cNvCxnSpPr>
            <a:cxnSpLocks/>
          </p:cNvCxnSpPr>
          <p:nvPr/>
        </p:nvCxnSpPr>
        <p:spPr>
          <a:xfrm flipH="1">
            <a:off x="2590083" y="4315214"/>
            <a:ext cx="1" cy="49819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191D7CD-BC61-0422-726B-063C427DE77A}"/>
              </a:ext>
            </a:extLst>
          </p:cNvPr>
          <p:cNvSpPr/>
          <p:nvPr/>
        </p:nvSpPr>
        <p:spPr>
          <a:xfrm>
            <a:off x="7766668" y="3772536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Tissue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(insensitive)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F5F880-85EE-A228-FE01-C1CC00E319A0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690472" y="3386152"/>
            <a:ext cx="643755" cy="386384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D36AC76-64F2-46EC-2375-BEC36F1178E2}"/>
              </a:ext>
            </a:extLst>
          </p:cNvPr>
          <p:cNvCxnSpPr>
            <a:cxnSpLocks/>
            <a:stCxn id="11" idx="4"/>
          </p:cNvCxnSpPr>
          <p:nvPr/>
        </p:nvCxnSpPr>
        <p:spPr>
          <a:xfrm flipH="1">
            <a:off x="8334226" y="4623874"/>
            <a:ext cx="1" cy="49819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F5C74B-A95B-48F6-9173-69ABC955FC1F}"/>
              </a:ext>
            </a:extLst>
          </p:cNvPr>
          <p:cNvSpPr/>
          <p:nvPr/>
        </p:nvSpPr>
        <p:spPr>
          <a:xfrm>
            <a:off x="2334102" y="5916366"/>
            <a:ext cx="2617076" cy="85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Outcome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D5CF04B-FDA3-5469-0FB0-1209F7EE57D7}"/>
              </a:ext>
            </a:extLst>
          </p:cNvPr>
          <p:cNvCxnSpPr>
            <a:stCxn id="4" idx="5"/>
            <a:endCxn id="14" idx="0"/>
          </p:cNvCxnSpPr>
          <p:nvPr/>
        </p:nvCxnSpPr>
        <p:spPr>
          <a:xfrm>
            <a:off x="2991409" y="4190538"/>
            <a:ext cx="651231" cy="1725828"/>
          </a:xfrm>
          <a:prstGeom prst="straightConnector1">
            <a:avLst/>
          </a:prstGeom>
          <a:ln w="254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37332A-79BA-3142-7875-88F1D6FE709E}"/>
              </a:ext>
            </a:extLst>
          </p:cNvPr>
          <p:cNvCxnSpPr>
            <a:cxnSpLocks/>
            <a:stCxn id="140" idx="3"/>
            <a:endCxn id="14" idx="3"/>
          </p:cNvCxnSpPr>
          <p:nvPr/>
        </p:nvCxnSpPr>
        <p:spPr>
          <a:xfrm flipH="1">
            <a:off x="4951178" y="4506602"/>
            <a:ext cx="1555871" cy="1835433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322FEF25-FD75-2A59-CFF7-CBBAA8BEB1AC}"/>
              </a:ext>
            </a:extLst>
          </p:cNvPr>
          <p:cNvSpPr/>
          <p:nvPr/>
        </p:nvSpPr>
        <p:spPr>
          <a:xfrm>
            <a:off x="4772069" y="2543751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IGF1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B12E55A-5B7A-E448-BBD8-F66DA5EB7A70}"/>
              </a:ext>
            </a:extLst>
          </p:cNvPr>
          <p:cNvCxnSpPr>
            <a:cxnSpLocks/>
            <a:stCxn id="20" idx="2"/>
            <a:endCxn id="72" idx="6"/>
          </p:cNvCxnSpPr>
          <p:nvPr/>
        </p:nvCxnSpPr>
        <p:spPr>
          <a:xfrm flipH="1" flipV="1">
            <a:off x="2666281" y="2841623"/>
            <a:ext cx="2105788" cy="1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568FC11-853A-8636-A244-17E7DF039564}"/>
              </a:ext>
            </a:extLst>
          </p:cNvPr>
          <p:cNvCxnSpPr>
            <a:cxnSpLocks/>
            <a:stCxn id="20" idx="6"/>
            <a:endCxn id="70" idx="2"/>
          </p:cNvCxnSpPr>
          <p:nvPr/>
        </p:nvCxnSpPr>
        <p:spPr>
          <a:xfrm>
            <a:off x="5589487" y="2841624"/>
            <a:ext cx="1927322" cy="14007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FC48AC4-1681-5818-D20D-98A27EDDECC8}"/>
              </a:ext>
            </a:extLst>
          </p:cNvPr>
          <p:cNvSpPr/>
          <p:nvPr/>
        </p:nvSpPr>
        <p:spPr>
          <a:xfrm>
            <a:off x="3304072" y="1121744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IGF1-BP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EA5746-2A0D-2ADB-CF19-5165480A0648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3712781" y="523616"/>
            <a:ext cx="0" cy="59812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3E1F3CE-13C0-2C8A-3AC5-1B7FEDF51223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3712781" y="1717489"/>
            <a:ext cx="0" cy="583561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7ACF73-6D0A-E823-81D2-385CB6CD17D9}"/>
              </a:ext>
            </a:extLst>
          </p:cNvPr>
          <p:cNvCxnSpPr>
            <a:cxnSpLocks/>
          </p:cNvCxnSpPr>
          <p:nvPr/>
        </p:nvCxnSpPr>
        <p:spPr>
          <a:xfrm>
            <a:off x="5176372" y="3139496"/>
            <a:ext cx="0" cy="55834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AE7AB1-354C-57EE-A046-47E5DF0C0298}"/>
              </a:ext>
            </a:extLst>
          </p:cNvPr>
          <p:cNvCxnSpPr>
            <a:cxnSpLocks/>
            <a:stCxn id="29" idx="5"/>
            <a:endCxn id="20" idx="1"/>
          </p:cNvCxnSpPr>
          <p:nvPr/>
        </p:nvCxnSpPr>
        <p:spPr>
          <a:xfrm>
            <a:off x="4001782" y="1630244"/>
            <a:ext cx="889995" cy="1000752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A309D12-311C-85A1-B3FF-366FCF965080}"/>
              </a:ext>
            </a:extLst>
          </p:cNvPr>
          <p:cNvCxnSpPr>
            <a:cxnSpLocks/>
          </p:cNvCxnSpPr>
          <p:nvPr/>
        </p:nvCxnSpPr>
        <p:spPr>
          <a:xfrm>
            <a:off x="5155352" y="1945623"/>
            <a:ext cx="0" cy="59812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168D640A-7159-5ADC-01F6-11FEC796F5E5}"/>
              </a:ext>
            </a:extLst>
          </p:cNvPr>
          <p:cNvSpPr>
            <a:spLocks noChangeAspect="1"/>
          </p:cNvSpPr>
          <p:nvPr/>
        </p:nvSpPr>
        <p:spPr>
          <a:xfrm>
            <a:off x="4182792" y="1853821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D5577E2-D8F1-F394-782B-0308B15BB43E}"/>
              </a:ext>
            </a:extLst>
          </p:cNvPr>
          <p:cNvSpPr>
            <a:spLocks noChangeAspect="1"/>
          </p:cNvSpPr>
          <p:nvPr/>
        </p:nvSpPr>
        <p:spPr>
          <a:xfrm>
            <a:off x="2513886" y="2763899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09D20C30-B172-8163-2881-882DBEED2854}"/>
              </a:ext>
            </a:extLst>
          </p:cNvPr>
          <p:cNvSpPr/>
          <p:nvPr/>
        </p:nvSpPr>
        <p:spPr>
          <a:xfrm>
            <a:off x="9265759" y="2265341"/>
            <a:ext cx="1389687" cy="462686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Estrogen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626D3E6-A3AB-5134-A917-CD65E9FE772A}"/>
              </a:ext>
            </a:extLst>
          </p:cNvPr>
          <p:cNvSpPr/>
          <p:nvPr/>
        </p:nvSpPr>
        <p:spPr>
          <a:xfrm>
            <a:off x="9265758" y="3252338"/>
            <a:ext cx="1389687" cy="462686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Progesterone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240F20B-1128-76B2-AD6E-6F33EE8681C0}"/>
              </a:ext>
            </a:extLst>
          </p:cNvPr>
          <p:cNvCxnSpPr>
            <a:stCxn id="102" idx="3"/>
            <a:endCxn id="103" idx="1"/>
          </p:cNvCxnSpPr>
          <p:nvPr/>
        </p:nvCxnSpPr>
        <p:spPr>
          <a:xfrm flipH="1">
            <a:off x="9469273" y="2660268"/>
            <a:ext cx="1" cy="659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E3E048D-4E2F-06F6-8693-B7278E3934E6}"/>
              </a:ext>
            </a:extLst>
          </p:cNvPr>
          <p:cNvCxnSpPr>
            <a:cxnSpLocks/>
            <a:stCxn id="103" idx="7"/>
            <a:endCxn id="102" idx="5"/>
          </p:cNvCxnSpPr>
          <p:nvPr/>
        </p:nvCxnSpPr>
        <p:spPr>
          <a:xfrm flipV="1">
            <a:off x="10451930" y="2660268"/>
            <a:ext cx="1" cy="6598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9AE2F7E-A68C-34E5-582A-A73CA8495A44}"/>
              </a:ext>
            </a:extLst>
          </p:cNvPr>
          <p:cNvCxnSpPr>
            <a:cxnSpLocks/>
          </p:cNvCxnSpPr>
          <p:nvPr/>
        </p:nvCxnSpPr>
        <p:spPr>
          <a:xfrm flipH="1" flipV="1">
            <a:off x="7598628" y="2497115"/>
            <a:ext cx="1667130" cy="2743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966E026F-3469-3886-1556-F1A5C7D6E189}"/>
              </a:ext>
            </a:extLst>
          </p:cNvPr>
          <p:cNvSpPr>
            <a:spLocks noChangeAspect="1"/>
          </p:cNvSpPr>
          <p:nvPr/>
        </p:nvSpPr>
        <p:spPr>
          <a:xfrm>
            <a:off x="10375732" y="2582544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4955DBB-A069-3470-CA7D-0D45BB3EB328}"/>
              </a:ext>
            </a:extLst>
          </p:cNvPr>
          <p:cNvSpPr/>
          <p:nvPr/>
        </p:nvSpPr>
        <p:spPr>
          <a:xfrm>
            <a:off x="9053946" y="2009269"/>
            <a:ext cx="1870096" cy="20085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7F80AB5-1BDE-C8DD-1760-40DDA7B43866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5589487" y="2841624"/>
            <a:ext cx="3676271" cy="622755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C1B09548-EF0D-478F-CB73-6105B1F56A82}"/>
              </a:ext>
            </a:extLst>
          </p:cNvPr>
          <p:cNvSpPr>
            <a:spLocks noChangeAspect="1"/>
          </p:cNvSpPr>
          <p:nvPr/>
        </p:nvSpPr>
        <p:spPr>
          <a:xfrm>
            <a:off x="9197835" y="3386152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23098A3E-D67F-0CE0-965E-EC079F79243C}"/>
              </a:ext>
            </a:extLst>
          </p:cNvPr>
          <p:cNvCxnSpPr>
            <a:cxnSpLocks/>
            <a:stCxn id="140" idx="2"/>
            <a:endCxn id="4" idx="6"/>
          </p:cNvCxnSpPr>
          <p:nvPr/>
        </p:nvCxnSpPr>
        <p:spPr>
          <a:xfrm flipH="1" flipV="1">
            <a:off x="3157643" y="3889545"/>
            <a:ext cx="3183172" cy="31606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FA7BE630-B2FB-FCB1-1D56-5345B3DD8DC2}"/>
              </a:ext>
            </a:extLst>
          </p:cNvPr>
          <p:cNvSpPr/>
          <p:nvPr/>
        </p:nvSpPr>
        <p:spPr>
          <a:xfrm>
            <a:off x="7680268" y="6006662"/>
            <a:ext cx="2617076" cy="85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Infertility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014DCCDD-6190-CE9E-C5BB-54D5C6BF0EC3}"/>
              </a:ext>
            </a:extLst>
          </p:cNvPr>
          <p:cNvCxnSpPr>
            <a:cxnSpLocks/>
            <a:stCxn id="11" idx="5"/>
            <a:endCxn id="133" idx="0"/>
          </p:cNvCxnSpPr>
          <p:nvPr/>
        </p:nvCxnSpPr>
        <p:spPr>
          <a:xfrm>
            <a:off x="8735551" y="4499198"/>
            <a:ext cx="253255" cy="150746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BA5087CA-1FB2-F8DD-1FFD-5C62111A5565}"/>
              </a:ext>
            </a:extLst>
          </p:cNvPr>
          <p:cNvSpPr/>
          <p:nvPr/>
        </p:nvSpPr>
        <p:spPr>
          <a:xfrm>
            <a:off x="6340815" y="3779940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Tissue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(sensitive)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E786A529-972C-91AD-4D6E-228DEF6BB795}"/>
              </a:ext>
            </a:extLst>
          </p:cNvPr>
          <p:cNvCxnSpPr>
            <a:cxnSpLocks/>
            <a:stCxn id="140" idx="4"/>
          </p:cNvCxnSpPr>
          <p:nvPr/>
        </p:nvCxnSpPr>
        <p:spPr>
          <a:xfrm flipH="1">
            <a:off x="6908373" y="4631278"/>
            <a:ext cx="1" cy="49819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D159C283-E4ED-1EA6-5E52-8E08B5F9FCF5}"/>
              </a:ext>
            </a:extLst>
          </p:cNvPr>
          <p:cNvCxnSpPr>
            <a:cxnSpLocks/>
            <a:endCxn id="140" idx="0"/>
          </p:cNvCxnSpPr>
          <p:nvPr/>
        </p:nvCxnSpPr>
        <p:spPr>
          <a:xfrm flipH="1">
            <a:off x="6908374" y="3386152"/>
            <a:ext cx="697626" cy="39378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965F3ED2-E8E4-3E87-C1FC-8CCBB93B8E54}"/>
              </a:ext>
            </a:extLst>
          </p:cNvPr>
          <p:cNvCxnSpPr>
            <a:cxnSpLocks/>
            <a:stCxn id="140" idx="5"/>
            <a:endCxn id="133" idx="0"/>
          </p:cNvCxnSpPr>
          <p:nvPr/>
        </p:nvCxnSpPr>
        <p:spPr>
          <a:xfrm>
            <a:off x="7309698" y="4506602"/>
            <a:ext cx="1679108" cy="150006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97BE18CA-AAD4-93B0-B974-B053E6674FBB}"/>
              </a:ext>
            </a:extLst>
          </p:cNvPr>
          <p:cNvCxnSpPr>
            <a:cxnSpLocks/>
            <a:stCxn id="11" idx="3"/>
            <a:endCxn id="14" idx="3"/>
          </p:cNvCxnSpPr>
          <p:nvPr/>
        </p:nvCxnSpPr>
        <p:spPr>
          <a:xfrm flipH="1">
            <a:off x="4951178" y="4499198"/>
            <a:ext cx="2981724" cy="1842837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0AEBCF86-910E-EB6D-B833-AADEDAD09E63}"/>
              </a:ext>
            </a:extLst>
          </p:cNvPr>
          <p:cNvCxnSpPr>
            <a:cxnSpLocks/>
          </p:cNvCxnSpPr>
          <p:nvPr/>
        </p:nvCxnSpPr>
        <p:spPr>
          <a:xfrm>
            <a:off x="7598627" y="1725858"/>
            <a:ext cx="47492" cy="1707711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2CAA874B-8FA3-0A63-F752-5DC14D15A99D}"/>
              </a:ext>
            </a:extLst>
          </p:cNvPr>
          <p:cNvSpPr/>
          <p:nvPr/>
        </p:nvSpPr>
        <p:spPr>
          <a:xfrm>
            <a:off x="2448433" y="451898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BP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1C9D511-1762-0AAF-1178-53142DB09340}"/>
              </a:ext>
            </a:extLst>
          </p:cNvPr>
          <p:cNvSpPr txBox="1"/>
          <p:nvPr/>
        </p:nvSpPr>
        <p:spPr>
          <a:xfrm>
            <a:off x="5099598" y="329064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10-30 min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E2B5C70-0B6F-FB70-6D56-3A03BC3E3AF5}"/>
              </a:ext>
            </a:extLst>
          </p:cNvPr>
          <p:cNvSpPr txBox="1"/>
          <p:nvPr/>
        </p:nvSpPr>
        <p:spPr>
          <a:xfrm>
            <a:off x="2978636" y="1850039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Days ?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A81F972-DA7B-8303-2655-62C84184A68E}"/>
              </a:ext>
            </a:extLst>
          </p:cNvPr>
          <p:cNvSpPr>
            <a:spLocks noChangeAspect="1"/>
          </p:cNvSpPr>
          <p:nvPr/>
        </p:nvSpPr>
        <p:spPr>
          <a:xfrm>
            <a:off x="7516809" y="2777907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9B656943-6D95-FBA4-B1CB-523D6AF7ADFE}"/>
              </a:ext>
            </a:extLst>
          </p:cNvPr>
          <p:cNvSpPr>
            <a:spLocks noChangeAspect="1"/>
          </p:cNvSpPr>
          <p:nvPr/>
        </p:nvSpPr>
        <p:spPr>
          <a:xfrm>
            <a:off x="7507210" y="2416318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211817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7848102-D8F3-55C3-E697-7856B92BCF9B}"/>
              </a:ext>
            </a:extLst>
          </p:cNvPr>
          <p:cNvSpPr/>
          <p:nvPr/>
        </p:nvSpPr>
        <p:spPr>
          <a:xfrm>
            <a:off x="2022526" y="3463876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Pain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8D1F42-BD1C-FB66-3E58-096F0BB5C947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590084" y="2014189"/>
            <a:ext cx="1" cy="1449687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1F501C-34A0-57AA-4989-36AC27B526A1}"/>
              </a:ext>
            </a:extLst>
          </p:cNvPr>
          <p:cNvCxnSpPr>
            <a:cxnSpLocks/>
          </p:cNvCxnSpPr>
          <p:nvPr/>
        </p:nvCxnSpPr>
        <p:spPr>
          <a:xfrm flipH="1">
            <a:off x="2590083" y="4315214"/>
            <a:ext cx="1" cy="49819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191D7CD-BC61-0422-726B-063C427DE77A}"/>
              </a:ext>
            </a:extLst>
          </p:cNvPr>
          <p:cNvSpPr/>
          <p:nvPr/>
        </p:nvSpPr>
        <p:spPr>
          <a:xfrm>
            <a:off x="7025449" y="3463876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Tissue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(lesions)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F5F880-85EE-A228-FE01-C1CC00E319A0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593007" y="2100254"/>
            <a:ext cx="1" cy="1363622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D36AC76-64F2-46EC-2375-BEC36F1178E2}"/>
              </a:ext>
            </a:extLst>
          </p:cNvPr>
          <p:cNvCxnSpPr>
            <a:cxnSpLocks/>
            <a:stCxn id="11" idx="4"/>
          </p:cNvCxnSpPr>
          <p:nvPr/>
        </p:nvCxnSpPr>
        <p:spPr>
          <a:xfrm flipH="1">
            <a:off x="7593007" y="4315214"/>
            <a:ext cx="1" cy="49819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F5C74B-A95B-48F6-9173-69ABC955FC1F}"/>
              </a:ext>
            </a:extLst>
          </p:cNvPr>
          <p:cNvSpPr/>
          <p:nvPr/>
        </p:nvSpPr>
        <p:spPr>
          <a:xfrm>
            <a:off x="2334102" y="5916366"/>
            <a:ext cx="2617076" cy="85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Outcome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D5CF04B-FDA3-5469-0FB0-1209F7EE57D7}"/>
              </a:ext>
            </a:extLst>
          </p:cNvPr>
          <p:cNvCxnSpPr>
            <a:stCxn id="4" idx="5"/>
            <a:endCxn id="14" idx="0"/>
          </p:cNvCxnSpPr>
          <p:nvPr/>
        </p:nvCxnSpPr>
        <p:spPr>
          <a:xfrm>
            <a:off x="2991409" y="4190538"/>
            <a:ext cx="651231" cy="1725828"/>
          </a:xfrm>
          <a:prstGeom prst="straightConnector1">
            <a:avLst/>
          </a:prstGeom>
          <a:ln w="254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37332A-79BA-3142-7875-88F1D6FE709E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3642640" y="3889545"/>
            <a:ext cx="3382809" cy="2026821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322FEF25-FD75-2A59-CFF7-CBBAA8BEB1AC}"/>
              </a:ext>
            </a:extLst>
          </p:cNvPr>
          <p:cNvSpPr/>
          <p:nvPr/>
        </p:nvSpPr>
        <p:spPr>
          <a:xfrm>
            <a:off x="4772069" y="2543751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IGF1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DE4DB1-27B7-3F40-D4DD-B931A531A82E}"/>
              </a:ext>
            </a:extLst>
          </p:cNvPr>
          <p:cNvSpPr/>
          <p:nvPr/>
        </p:nvSpPr>
        <p:spPr>
          <a:xfrm>
            <a:off x="5589487" y="560004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PAPPA2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B12E55A-5B7A-E448-BBD8-F66DA5EB7A70}"/>
              </a:ext>
            </a:extLst>
          </p:cNvPr>
          <p:cNvCxnSpPr>
            <a:cxnSpLocks/>
            <a:stCxn id="20" idx="2"/>
            <a:endCxn id="72" idx="6"/>
          </p:cNvCxnSpPr>
          <p:nvPr/>
        </p:nvCxnSpPr>
        <p:spPr>
          <a:xfrm flipH="1" flipV="1">
            <a:off x="2666281" y="2841623"/>
            <a:ext cx="2105788" cy="1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568FC11-853A-8636-A244-17E7DF039564}"/>
              </a:ext>
            </a:extLst>
          </p:cNvPr>
          <p:cNvCxnSpPr>
            <a:cxnSpLocks/>
            <a:stCxn id="20" idx="6"/>
            <a:endCxn id="70" idx="2"/>
          </p:cNvCxnSpPr>
          <p:nvPr/>
        </p:nvCxnSpPr>
        <p:spPr>
          <a:xfrm>
            <a:off x="5589487" y="2841624"/>
            <a:ext cx="1927322" cy="14007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FC48AC4-1681-5818-D20D-98A27EDDECC8}"/>
              </a:ext>
            </a:extLst>
          </p:cNvPr>
          <p:cNvSpPr/>
          <p:nvPr/>
        </p:nvSpPr>
        <p:spPr>
          <a:xfrm>
            <a:off x="3304072" y="1121744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IGF1-BP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EA5746-2A0D-2ADB-CF19-5165480A0648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3712781" y="523616"/>
            <a:ext cx="0" cy="59812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86F9FF-CB90-8B21-EDD5-0FFEFB0480BD}"/>
              </a:ext>
            </a:extLst>
          </p:cNvPr>
          <p:cNvCxnSpPr>
            <a:cxnSpLocks/>
          </p:cNvCxnSpPr>
          <p:nvPr/>
        </p:nvCxnSpPr>
        <p:spPr>
          <a:xfrm>
            <a:off x="5981043" y="193964"/>
            <a:ext cx="0" cy="36604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3E1F3CE-13C0-2C8A-3AC5-1B7FEDF51223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3712781" y="1717489"/>
            <a:ext cx="0" cy="583561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1841E0B-8C3C-E99C-B611-6A04D472BB57}"/>
              </a:ext>
            </a:extLst>
          </p:cNvPr>
          <p:cNvCxnSpPr>
            <a:cxnSpLocks/>
          </p:cNvCxnSpPr>
          <p:nvPr/>
        </p:nvCxnSpPr>
        <p:spPr>
          <a:xfrm>
            <a:off x="5981043" y="1159140"/>
            <a:ext cx="0" cy="55834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E91870F-B10E-F3BF-88A6-2F5C82DFE6FD}"/>
              </a:ext>
            </a:extLst>
          </p:cNvPr>
          <p:cNvCxnSpPr>
            <a:cxnSpLocks/>
            <a:stCxn id="21" idx="2"/>
            <a:endCxn id="67" idx="7"/>
          </p:cNvCxnSpPr>
          <p:nvPr/>
        </p:nvCxnSpPr>
        <p:spPr>
          <a:xfrm flipH="1">
            <a:off x="4312869" y="857877"/>
            <a:ext cx="1276618" cy="1018709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7ACF73-6D0A-E823-81D2-385CB6CD17D9}"/>
              </a:ext>
            </a:extLst>
          </p:cNvPr>
          <p:cNvCxnSpPr>
            <a:cxnSpLocks/>
          </p:cNvCxnSpPr>
          <p:nvPr/>
        </p:nvCxnSpPr>
        <p:spPr>
          <a:xfrm>
            <a:off x="5176372" y="3139496"/>
            <a:ext cx="0" cy="55834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AE7AB1-354C-57EE-A046-47E5DF0C0298}"/>
              </a:ext>
            </a:extLst>
          </p:cNvPr>
          <p:cNvCxnSpPr>
            <a:cxnSpLocks/>
            <a:stCxn id="29" idx="5"/>
            <a:endCxn id="20" idx="1"/>
          </p:cNvCxnSpPr>
          <p:nvPr/>
        </p:nvCxnSpPr>
        <p:spPr>
          <a:xfrm>
            <a:off x="4001782" y="1630244"/>
            <a:ext cx="889995" cy="1000752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A309D12-311C-85A1-B3FF-366FCF965080}"/>
              </a:ext>
            </a:extLst>
          </p:cNvPr>
          <p:cNvCxnSpPr>
            <a:cxnSpLocks/>
          </p:cNvCxnSpPr>
          <p:nvPr/>
        </p:nvCxnSpPr>
        <p:spPr>
          <a:xfrm>
            <a:off x="5155352" y="1945623"/>
            <a:ext cx="0" cy="59812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168D640A-7159-5ADC-01F6-11FEC796F5E5}"/>
              </a:ext>
            </a:extLst>
          </p:cNvPr>
          <p:cNvSpPr>
            <a:spLocks noChangeAspect="1"/>
          </p:cNvSpPr>
          <p:nvPr/>
        </p:nvSpPr>
        <p:spPr>
          <a:xfrm>
            <a:off x="4182792" y="1853821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A81F972-DA7B-8303-2655-62C84184A68E}"/>
              </a:ext>
            </a:extLst>
          </p:cNvPr>
          <p:cNvSpPr>
            <a:spLocks noChangeAspect="1"/>
          </p:cNvSpPr>
          <p:nvPr/>
        </p:nvSpPr>
        <p:spPr>
          <a:xfrm>
            <a:off x="7516809" y="2777907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D5577E2-D8F1-F394-782B-0308B15BB43E}"/>
              </a:ext>
            </a:extLst>
          </p:cNvPr>
          <p:cNvSpPr>
            <a:spLocks noChangeAspect="1"/>
          </p:cNvSpPr>
          <p:nvPr/>
        </p:nvSpPr>
        <p:spPr>
          <a:xfrm>
            <a:off x="2513886" y="2763899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8D4F248-562E-66BB-CCBB-2403898D606A}"/>
              </a:ext>
            </a:extLst>
          </p:cNvPr>
          <p:cNvSpPr/>
          <p:nvPr/>
        </p:nvSpPr>
        <p:spPr>
          <a:xfrm>
            <a:off x="8759911" y="564302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PAPPA2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35F3B8C-1F8D-1F50-3A75-F3F408E08505}"/>
              </a:ext>
            </a:extLst>
          </p:cNvPr>
          <p:cNvCxnSpPr>
            <a:stCxn id="21" idx="6"/>
            <a:endCxn id="75" idx="2"/>
          </p:cNvCxnSpPr>
          <p:nvPr/>
        </p:nvCxnSpPr>
        <p:spPr>
          <a:xfrm>
            <a:off x="6406905" y="857877"/>
            <a:ext cx="2353006" cy="4298"/>
          </a:xfrm>
          <a:prstGeom prst="straightConnector1">
            <a:avLst/>
          </a:prstGeom>
          <a:ln w="254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1614A83-D729-B02A-53E8-79BBB4E4A831}"/>
              </a:ext>
            </a:extLst>
          </p:cNvPr>
          <p:cNvSpPr txBox="1"/>
          <p:nvPr/>
        </p:nvSpPr>
        <p:spPr>
          <a:xfrm>
            <a:off x="8160566" y="376984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F14E450-7B90-736C-BFAF-A3530BD096B8}"/>
              </a:ext>
            </a:extLst>
          </p:cNvPr>
          <p:cNvSpPr txBox="1"/>
          <p:nvPr/>
        </p:nvSpPr>
        <p:spPr>
          <a:xfrm>
            <a:off x="9265759" y="342348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Y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0C299D5-F9D3-2802-DB2D-6331C13614A3}"/>
              </a:ext>
            </a:extLst>
          </p:cNvPr>
          <p:cNvCxnSpPr>
            <a:cxnSpLocks/>
          </p:cNvCxnSpPr>
          <p:nvPr/>
        </p:nvCxnSpPr>
        <p:spPr>
          <a:xfrm>
            <a:off x="9168620" y="1159140"/>
            <a:ext cx="0" cy="55834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09D20C30-B172-8163-2881-882DBEED2854}"/>
              </a:ext>
            </a:extLst>
          </p:cNvPr>
          <p:cNvSpPr/>
          <p:nvPr/>
        </p:nvSpPr>
        <p:spPr>
          <a:xfrm>
            <a:off x="9265759" y="2265341"/>
            <a:ext cx="1389687" cy="462686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Estrogen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626D3E6-A3AB-5134-A917-CD65E9FE772A}"/>
              </a:ext>
            </a:extLst>
          </p:cNvPr>
          <p:cNvSpPr/>
          <p:nvPr/>
        </p:nvSpPr>
        <p:spPr>
          <a:xfrm>
            <a:off x="9265758" y="3252338"/>
            <a:ext cx="1389687" cy="462686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Progesterone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240F20B-1128-76B2-AD6E-6F33EE8681C0}"/>
              </a:ext>
            </a:extLst>
          </p:cNvPr>
          <p:cNvCxnSpPr>
            <a:stCxn id="102" idx="3"/>
            <a:endCxn id="103" idx="1"/>
          </p:cNvCxnSpPr>
          <p:nvPr/>
        </p:nvCxnSpPr>
        <p:spPr>
          <a:xfrm flipH="1">
            <a:off x="9469273" y="2660268"/>
            <a:ext cx="1" cy="659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E3E048D-4E2F-06F6-8693-B7278E3934E6}"/>
              </a:ext>
            </a:extLst>
          </p:cNvPr>
          <p:cNvCxnSpPr>
            <a:cxnSpLocks/>
            <a:stCxn id="103" idx="7"/>
            <a:endCxn id="102" idx="5"/>
          </p:cNvCxnSpPr>
          <p:nvPr/>
        </p:nvCxnSpPr>
        <p:spPr>
          <a:xfrm flipV="1">
            <a:off x="10451930" y="2660268"/>
            <a:ext cx="1" cy="6598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9AE2F7E-A68C-34E5-582A-A73CA8495A44}"/>
              </a:ext>
            </a:extLst>
          </p:cNvPr>
          <p:cNvCxnSpPr>
            <a:cxnSpLocks/>
          </p:cNvCxnSpPr>
          <p:nvPr/>
        </p:nvCxnSpPr>
        <p:spPr>
          <a:xfrm flipH="1" flipV="1">
            <a:off x="7598628" y="2497115"/>
            <a:ext cx="1667130" cy="2743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9B656943-6D95-FBA4-B1CB-523D6AF7ADFE}"/>
              </a:ext>
            </a:extLst>
          </p:cNvPr>
          <p:cNvSpPr>
            <a:spLocks noChangeAspect="1"/>
          </p:cNvSpPr>
          <p:nvPr/>
        </p:nvSpPr>
        <p:spPr>
          <a:xfrm>
            <a:off x="7507210" y="2416318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966E026F-3469-3886-1556-F1A5C7D6E189}"/>
              </a:ext>
            </a:extLst>
          </p:cNvPr>
          <p:cNvSpPr>
            <a:spLocks noChangeAspect="1"/>
          </p:cNvSpPr>
          <p:nvPr/>
        </p:nvSpPr>
        <p:spPr>
          <a:xfrm>
            <a:off x="10375732" y="2582544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4955DBB-A069-3470-CA7D-0D45BB3EB328}"/>
              </a:ext>
            </a:extLst>
          </p:cNvPr>
          <p:cNvSpPr/>
          <p:nvPr/>
        </p:nvSpPr>
        <p:spPr>
          <a:xfrm>
            <a:off x="9053946" y="2009269"/>
            <a:ext cx="1870096" cy="20085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7F80AB5-1BDE-C8DD-1760-40DDA7B43866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5589487" y="2841624"/>
            <a:ext cx="3676271" cy="622755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C1B09548-EF0D-478F-CB73-6105B1F56A82}"/>
              </a:ext>
            </a:extLst>
          </p:cNvPr>
          <p:cNvSpPr>
            <a:spLocks noChangeAspect="1"/>
          </p:cNvSpPr>
          <p:nvPr/>
        </p:nvSpPr>
        <p:spPr>
          <a:xfrm>
            <a:off x="9197835" y="3386152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DD1BEA6-0CB2-D90D-F57F-42C117CE611B}"/>
              </a:ext>
            </a:extLst>
          </p:cNvPr>
          <p:cNvSpPr txBox="1"/>
          <p:nvPr/>
        </p:nvSpPr>
        <p:spPr>
          <a:xfrm rot="19843233">
            <a:off x="3800548" y="520774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lesions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23098A3E-D67F-0CE0-965E-EC079F79243C}"/>
              </a:ext>
            </a:extLst>
          </p:cNvPr>
          <p:cNvCxnSpPr>
            <a:cxnSpLocks/>
            <a:stCxn id="11" idx="2"/>
            <a:endCxn id="4" idx="6"/>
          </p:cNvCxnSpPr>
          <p:nvPr/>
        </p:nvCxnSpPr>
        <p:spPr>
          <a:xfrm flipH="1">
            <a:off x="3157643" y="3889545"/>
            <a:ext cx="3867806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FA7BE630-B2FB-FCB1-1D56-5345B3DD8DC2}"/>
              </a:ext>
            </a:extLst>
          </p:cNvPr>
          <p:cNvSpPr/>
          <p:nvPr/>
        </p:nvSpPr>
        <p:spPr>
          <a:xfrm>
            <a:off x="8306966" y="5916366"/>
            <a:ext cx="2617076" cy="85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Infertility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014DCCDD-6190-CE9E-C5BB-54D5C6BF0EC3}"/>
              </a:ext>
            </a:extLst>
          </p:cNvPr>
          <p:cNvCxnSpPr>
            <a:cxnSpLocks/>
            <a:stCxn id="11" idx="5"/>
            <a:endCxn id="133" idx="0"/>
          </p:cNvCxnSpPr>
          <p:nvPr/>
        </p:nvCxnSpPr>
        <p:spPr>
          <a:xfrm>
            <a:off x="7994332" y="4190538"/>
            <a:ext cx="1621172" cy="1725828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918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7848102-D8F3-55C3-E697-7856B92BCF9B}"/>
              </a:ext>
            </a:extLst>
          </p:cNvPr>
          <p:cNvSpPr/>
          <p:nvPr/>
        </p:nvSpPr>
        <p:spPr>
          <a:xfrm>
            <a:off x="2022526" y="3463876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Pain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8D1F42-BD1C-FB66-3E58-096F0BB5C947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590084" y="2014189"/>
            <a:ext cx="1" cy="1449687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1F501C-34A0-57AA-4989-36AC27B526A1}"/>
              </a:ext>
            </a:extLst>
          </p:cNvPr>
          <p:cNvCxnSpPr>
            <a:cxnSpLocks/>
          </p:cNvCxnSpPr>
          <p:nvPr/>
        </p:nvCxnSpPr>
        <p:spPr>
          <a:xfrm flipH="1">
            <a:off x="2590083" y="4315214"/>
            <a:ext cx="1" cy="49819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191D7CD-BC61-0422-726B-063C427DE77A}"/>
              </a:ext>
            </a:extLst>
          </p:cNvPr>
          <p:cNvSpPr/>
          <p:nvPr/>
        </p:nvSpPr>
        <p:spPr>
          <a:xfrm>
            <a:off x="7025449" y="3463876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Tissue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F5F880-85EE-A228-FE01-C1CC00E319A0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593007" y="2100254"/>
            <a:ext cx="1" cy="1363622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D36AC76-64F2-46EC-2375-BEC36F1178E2}"/>
              </a:ext>
            </a:extLst>
          </p:cNvPr>
          <p:cNvCxnSpPr>
            <a:cxnSpLocks/>
            <a:stCxn id="11" idx="4"/>
          </p:cNvCxnSpPr>
          <p:nvPr/>
        </p:nvCxnSpPr>
        <p:spPr>
          <a:xfrm flipH="1">
            <a:off x="7593007" y="4315214"/>
            <a:ext cx="1" cy="49819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F5C74B-A95B-48F6-9173-69ABC955FC1F}"/>
              </a:ext>
            </a:extLst>
          </p:cNvPr>
          <p:cNvSpPr/>
          <p:nvPr/>
        </p:nvSpPr>
        <p:spPr>
          <a:xfrm>
            <a:off x="2334102" y="5916366"/>
            <a:ext cx="2617076" cy="85133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Outcome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D5CF04B-FDA3-5469-0FB0-1209F7EE57D7}"/>
              </a:ext>
            </a:extLst>
          </p:cNvPr>
          <p:cNvCxnSpPr>
            <a:stCxn id="4" idx="5"/>
            <a:endCxn id="14" idx="0"/>
          </p:cNvCxnSpPr>
          <p:nvPr/>
        </p:nvCxnSpPr>
        <p:spPr>
          <a:xfrm>
            <a:off x="2991409" y="4190538"/>
            <a:ext cx="651231" cy="1725828"/>
          </a:xfrm>
          <a:prstGeom prst="straightConnector1">
            <a:avLst/>
          </a:prstGeom>
          <a:ln w="254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37332A-79BA-3142-7875-88F1D6FE709E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3642640" y="3889545"/>
            <a:ext cx="3382809" cy="2026821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322FEF25-FD75-2A59-CFF7-CBBAA8BEB1AC}"/>
              </a:ext>
            </a:extLst>
          </p:cNvPr>
          <p:cNvSpPr/>
          <p:nvPr/>
        </p:nvSpPr>
        <p:spPr>
          <a:xfrm>
            <a:off x="4772069" y="2543751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IGF1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DE4DB1-27B7-3F40-D4DD-B931A531A82E}"/>
              </a:ext>
            </a:extLst>
          </p:cNvPr>
          <p:cNvSpPr/>
          <p:nvPr/>
        </p:nvSpPr>
        <p:spPr>
          <a:xfrm>
            <a:off x="5589487" y="560004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PAPPA2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B12E55A-5B7A-E448-BBD8-F66DA5EB7A70}"/>
              </a:ext>
            </a:extLst>
          </p:cNvPr>
          <p:cNvCxnSpPr>
            <a:cxnSpLocks/>
            <a:stCxn id="20" idx="2"/>
            <a:endCxn id="72" idx="6"/>
          </p:cNvCxnSpPr>
          <p:nvPr/>
        </p:nvCxnSpPr>
        <p:spPr>
          <a:xfrm flipH="1" flipV="1">
            <a:off x="2666281" y="2841623"/>
            <a:ext cx="2105788" cy="1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568FC11-853A-8636-A244-17E7DF039564}"/>
              </a:ext>
            </a:extLst>
          </p:cNvPr>
          <p:cNvCxnSpPr>
            <a:cxnSpLocks/>
            <a:stCxn id="20" idx="6"/>
            <a:endCxn id="70" idx="2"/>
          </p:cNvCxnSpPr>
          <p:nvPr/>
        </p:nvCxnSpPr>
        <p:spPr>
          <a:xfrm>
            <a:off x="5589487" y="2841624"/>
            <a:ext cx="1927322" cy="14007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FC48AC4-1681-5818-D20D-98A27EDDECC8}"/>
              </a:ext>
            </a:extLst>
          </p:cNvPr>
          <p:cNvSpPr/>
          <p:nvPr/>
        </p:nvSpPr>
        <p:spPr>
          <a:xfrm>
            <a:off x="3304072" y="1121744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IGF1-BP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EA5746-2A0D-2ADB-CF19-5165480A0648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3712781" y="523616"/>
            <a:ext cx="0" cy="59812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86F9FF-CB90-8B21-EDD5-0FFEFB0480BD}"/>
              </a:ext>
            </a:extLst>
          </p:cNvPr>
          <p:cNvCxnSpPr>
            <a:cxnSpLocks/>
          </p:cNvCxnSpPr>
          <p:nvPr/>
        </p:nvCxnSpPr>
        <p:spPr>
          <a:xfrm>
            <a:off x="5981043" y="193964"/>
            <a:ext cx="0" cy="366040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3E1F3CE-13C0-2C8A-3AC5-1B7FEDF51223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3712781" y="1717489"/>
            <a:ext cx="0" cy="583561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1841E0B-8C3C-E99C-B611-6A04D472BB57}"/>
              </a:ext>
            </a:extLst>
          </p:cNvPr>
          <p:cNvCxnSpPr>
            <a:cxnSpLocks/>
          </p:cNvCxnSpPr>
          <p:nvPr/>
        </p:nvCxnSpPr>
        <p:spPr>
          <a:xfrm>
            <a:off x="5981043" y="1159140"/>
            <a:ext cx="0" cy="55834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E91870F-B10E-F3BF-88A6-2F5C82DFE6FD}"/>
              </a:ext>
            </a:extLst>
          </p:cNvPr>
          <p:cNvCxnSpPr>
            <a:cxnSpLocks/>
            <a:stCxn id="21" idx="2"/>
            <a:endCxn id="67" idx="7"/>
          </p:cNvCxnSpPr>
          <p:nvPr/>
        </p:nvCxnSpPr>
        <p:spPr>
          <a:xfrm flipH="1">
            <a:off x="4312869" y="857877"/>
            <a:ext cx="1276618" cy="1018709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7ACF73-6D0A-E823-81D2-385CB6CD17D9}"/>
              </a:ext>
            </a:extLst>
          </p:cNvPr>
          <p:cNvCxnSpPr>
            <a:cxnSpLocks/>
          </p:cNvCxnSpPr>
          <p:nvPr/>
        </p:nvCxnSpPr>
        <p:spPr>
          <a:xfrm>
            <a:off x="5176372" y="3139496"/>
            <a:ext cx="0" cy="55834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AE7AB1-354C-57EE-A046-47E5DF0C0298}"/>
              </a:ext>
            </a:extLst>
          </p:cNvPr>
          <p:cNvCxnSpPr>
            <a:cxnSpLocks/>
            <a:stCxn id="29" idx="5"/>
            <a:endCxn id="20" idx="1"/>
          </p:cNvCxnSpPr>
          <p:nvPr/>
        </p:nvCxnSpPr>
        <p:spPr>
          <a:xfrm>
            <a:off x="4001782" y="1630244"/>
            <a:ext cx="889995" cy="1000752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A309D12-311C-85A1-B3FF-366FCF965080}"/>
              </a:ext>
            </a:extLst>
          </p:cNvPr>
          <p:cNvCxnSpPr>
            <a:cxnSpLocks/>
          </p:cNvCxnSpPr>
          <p:nvPr/>
        </p:nvCxnSpPr>
        <p:spPr>
          <a:xfrm>
            <a:off x="5155352" y="1945623"/>
            <a:ext cx="0" cy="598128"/>
          </a:xfrm>
          <a:prstGeom prst="straightConnector1">
            <a:avLst/>
          </a:prstGeom>
          <a:ln w="25400">
            <a:solidFill>
              <a:schemeClr val="accent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168D640A-7159-5ADC-01F6-11FEC796F5E5}"/>
              </a:ext>
            </a:extLst>
          </p:cNvPr>
          <p:cNvSpPr>
            <a:spLocks noChangeAspect="1"/>
          </p:cNvSpPr>
          <p:nvPr/>
        </p:nvSpPr>
        <p:spPr>
          <a:xfrm>
            <a:off x="4182792" y="1853821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A81F972-DA7B-8303-2655-62C84184A68E}"/>
              </a:ext>
            </a:extLst>
          </p:cNvPr>
          <p:cNvSpPr>
            <a:spLocks noChangeAspect="1"/>
          </p:cNvSpPr>
          <p:nvPr/>
        </p:nvSpPr>
        <p:spPr>
          <a:xfrm>
            <a:off x="7516809" y="2777907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D5577E2-D8F1-F394-782B-0308B15BB43E}"/>
              </a:ext>
            </a:extLst>
          </p:cNvPr>
          <p:cNvSpPr>
            <a:spLocks noChangeAspect="1"/>
          </p:cNvSpPr>
          <p:nvPr/>
        </p:nvSpPr>
        <p:spPr>
          <a:xfrm>
            <a:off x="2513886" y="2763899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8D4F248-562E-66BB-CCBB-2403898D606A}"/>
              </a:ext>
            </a:extLst>
          </p:cNvPr>
          <p:cNvSpPr/>
          <p:nvPr/>
        </p:nvSpPr>
        <p:spPr>
          <a:xfrm>
            <a:off x="8759911" y="564302"/>
            <a:ext cx="817418" cy="59574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PAPPA2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35F3B8C-1F8D-1F50-3A75-F3F408E08505}"/>
              </a:ext>
            </a:extLst>
          </p:cNvPr>
          <p:cNvCxnSpPr>
            <a:stCxn id="21" idx="6"/>
            <a:endCxn id="75" idx="2"/>
          </p:cNvCxnSpPr>
          <p:nvPr/>
        </p:nvCxnSpPr>
        <p:spPr>
          <a:xfrm>
            <a:off x="6406905" y="857877"/>
            <a:ext cx="2353006" cy="4298"/>
          </a:xfrm>
          <a:prstGeom prst="straightConnector1">
            <a:avLst/>
          </a:prstGeom>
          <a:ln w="254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1614A83-D729-B02A-53E8-79BBB4E4A831}"/>
              </a:ext>
            </a:extLst>
          </p:cNvPr>
          <p:cNvSpPr txBox="1"/>
          <p:nvPr/>
        </p:nvSpPr>
        <p:spPr>
          <a:xfrm>
            <a:off x="8160566" y="376984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F14E450-7B90-736C-BFAF-A3530BD096B8}"/>
              </a:ext>
            </a:extLst>
          </p:cNvPr>
          <p:cNvSpPr txBox="1"/>
          <p:nvPr/>
        </p:nvSpPr>
        <p:spPr>
          <a:xfrm>
            <a:off x="9265759" y="342348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Y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0C299D5-F9D3-2802-DB2D-6331C13614A3}"/>
              </a:ext>
            </a:extLst>
          </p:cNvPr>
          <p:cNvCxnSpPr>
            <a:cxnSpLocks/>
          </p:cNvCxnSpPr>
          <p:nvPr/>
        </p:nvCxnSpPr>
        <p:spPr>
          <a:xfrm>
            <a:off x="9168620" y="1159140"/>
            <a:ext cx="0" cy="558349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0901BE2A-917E-7B35-4F90-2ACE47F4BAD7}"/>
              </a:ext>
            </a:extLst>
          </p:cNvPr>
          <p:cNvSpPr/>
          <p:nvPr/>
        </p:nvSpPr>
        <p:spPr>
          <a:xfrm>
            <a:off x="5920061" y="4889059"/>
            <a:ext cx="1135117" cy="85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Fibrotic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Tissue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AB1C1C8-0F1C-8F84-523C-8AEB3E701751}"/>
              </a:ext>
            </a:extLst>
          </p:cNvPr>
          <p:cNvCxnSpPr>
            <a:cxnSpLocks/>
          </p:cNvCxnSpPr>
          <p:nvPr/>
        </p:nvCxnSpPr>
        <p:spPr>
          <a:xfrm flipH="1">
            <a:off x="6487618" y="5734900"/>
            <a:ext cx="1" cy="49819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D5DBB80-1FDB-0377-889E-131D02141414}"/>
              </a:ext>
            </a:extLst>
          </p:cNvPr>
          <p:cNvCxnSpPr>
            <a:cxnSpLocks/>
            <a:stCxn id="89" idx="2"/>
            <a:endCxn id="14" idx="0"/>
          </p:cNvCxnSpPr>
          <p:nvPr/>
        </p:nvCxnSpPr>
        <p:spPr>
          <a:xfrm flipH="1">
            <a:off x="3642640" y="5314728"/>
            <a:ext cx="2277421" cy="601638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351C282-5BD2-5EAB-3EBD-4A80AB3F727C}"/>
              </a:ext>
            </a:extLst>
          </p:cNvPr>
          <p:cNvCxnSpPr>
            <a:cxnSpLocks/>
            <a:stCxn id="11" idx="3"/>
            <a:endCxn id="89" idx="0"/>
          </p:cNvCxnSpPr>
          <p:nvPr/>
        </p:nvCxnSpPr>
        <p:spPr>
          <a:xfrm flipH="1">
            <a:off x="6487620" y="4190538"/>
            <a:ext cx="704063" cy="698521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09D20C30-B172-8163-2881-882DBEED2854}"/>
              </a:ext>
            </a:extLst>
          </p:cNvPr>
          <p:cNvSpPr/>
          <p:nvPr/>
        </p:nvSpPr>
        <p:spPr>
          <a:xfrm>
            <a:off x="9265759" y="2265341"/>
            <a:ext cx="1389687" cy="462686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Estrogen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626D3E6-A3AB-5134-A917-CD65E9FE772A}"/>
              </a:ext>
            </a:extLst>
          </p:cNvPr>
          <p:cNvSpPr/>
          <p:nvPr/>
        </p:nvSpPr>
        <p:spPr>
          <a:xfrm>
            <a:off x="9265758" y="3252338"/>
            <a:ext cx="1389687" cy="462686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Progesterone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240F20B-1128-76B2-AD6E-6F33EE8681C0}"/>
              </a:ext>
            </a:extLst>
          </p:cNvPr>
          <p:cNvCxnSpPr>
            <a:stCxn id="102" idx="3"/>
            <a:endCxn id="103" idx="1"/>
          </p:cNvCxnSpPr>
          <p:nvPr/>
        </p:nvCxnSpPr>
        <p:spPr>
          <a:xfrm flipH="1">
            <a:off x="9469273" y="2660268"/>
            <a:ext cx="1" cy="659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E3E048D-4E2F-06F6-8693-B7278E3934E6}"/>
              </a:ext>
            </a:extLst>
          </p:cNvPr>
          <p:cNvCxnSpPr>
            <a:cxnSpLocks/>
            <a:stCxn id="103" idx="7"/>
            <a:endCxn id="102" idx="5"/>
          </p:cNvCxnSpPr>
          <p:nvPr/>
        </p:nvCxnSpPr>
        <p:spPr>
          <a:xfrm flipV="1">
            <a:off x="10451930" y="2660268"/>
            <a:ext cx="1" cy="6598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9AE2F7E-A68C-34E5-582A-A73CA8495A44}"/>
              </a:ext>
            </a:extLst>
          </p:cNvPr>
          <p:cNvCxnSpPr>
            <a:cxnSpLocks/>
          </p:cNvCxnSpPr>
          <p:nvPr/>
        </p:nvCxnSpPr>
        <p:spPr>
          <a:xfrm flipH="1" flipV="1">
            <a:off x="7598628" y="2497115"/>
            <a:ext cx="1667130" cy="2743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9B656943-6D95-FBA4-B1CB-523D6AF7ADFE}"/>
              </a:ext>
            </a:extLst>
          </p:cNvPr>
          <p:cNvSpPr>
            <a:spLocks noChangeAspect="1"/>
          </p:cNvSpPr>
          <p:nvPr/>
        </p:nvSpPr>
        <p:spPr>
          <a:xfrm>
            <a:off x="7507210" y="2416318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966E026F-3469-3886-1556-F1A5C7D6E189}"/>
              </a:ext>
            </a:extLst>
          </p:cNvPr>
          <p:cNvSpPr>
            <a:spLocks noChangeAspect="1"/>
          </p:cNvSpPr>
          <p:nvPr/>
        </p:nvSpPr>
        <p:spPr>
          <a:xfrm>
            <a:off x="10375732" y="2582544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4955DBB-A069-3470-CA7D-0D45BB3EB328}"/>
              </a:ext>
            </a:extLst>
          </p:cNvPr>
          <p:cNvSpPr/>
          <p:nvPr/>
        </p:nvSpPr>
        <p:spPr>
          <a:xfrm>
            <a:off x="9053946" y="2009269"/>
            <a:ext cx="1870096" cy="20085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7F80AB5-1BDE-C8DD-1760-40DDA7B43866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5589487" y="2841624"/>
            <a:ext cx="3676271" cy="622755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C1B09548-EF0D-478F-CB73-6105B1F56A82}"/>
              </a:ext>
            </a:extLst>
          </p:cNvPr>
          <p:cNvSpPr>
            <a:spLocks noChangeAspect="1"/>
          </p:cNvSpPr>
          <p:nvPr/>
        </p:nvSpPr>
        <p:spPr>
          <a:xfrm>
            <a:off x="9197835" y="3386152"/>
            <a:ext cx="152395" cy="15544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73152" rtlCol="0" anchor="ctr" anchorCtr="1"/>
          <a:lstStyle/>
          <a:p>
            <a:pPr algn="ctr"/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081167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03289" y="59739"/>
            <a:ext cx="8776627" cy="967766"/>
          </a:xfrm>
          <a:prstGeom prst="roundRect">
            <a:avLst>
              <a:gd name="adj" fmla="val 11189"/>
            </a:avLst>
          </a:prstGeom>
          <a:solidFill>
            <a:srgbClr val="FFFFFF"/>
          </a:solidFill>
          <a:ln w="12700">
            <a:solidFill>
              <a:srgbClr val="544F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9423" y="131425"/>
            <a:ext cx="3139086" cy="197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360914"/>
            <a:r>
              <a:rPr lang="en-US" sz="868" dirty="0">
                <a:solidFill>
                  <a:srgbClr val="202020"/>
                </a:solidFill>
                <a:latin typeface="Calibri" panose="020F0502020204030204"/>
              </a:rPr>
              <a:t>Model Informed Translational Strategy</a:t>
            </a:r>
            <a:endParaRPr lang="en-US" sz="8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39423" y="776603"/>
            <a:ext cx="584574" cy="185190"/>
          </a:xfrm>
          <a:prstGeom prst="rect">
            <a:avLst/>
          </a:prstGeom>
          <a:solidFill>
            <a:srgbClr val="008A00">
              <a:alpha val="50000"/>
            </a:srgbClr>
          </a:solidFill>
          <a:ln/>
        </p:spPr>
        <p:txBody>
          <a:bodyPr wrap="square" rtlCol="0" anchor="ctr"/>
          <a:lstStyle/>
          <a:p>
            <a:pPr defTabSz="360914"/>
            <a:r>
              <a:rPr lang="en-US" sz="710" dirty="0">
                <a:solidFill>
                  <a:srgbClr val="008A00"/>
                </a:solidFill>
                <a:latin typeface="Calibri" panose="020F0502020204030204"/>
              </a:rPr>
              <a:t>Green</a:t>
            </a:r>
            <a:endParaRPr lang="en-US" sz="71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423" y="394276"/>
            <a:ext cx="8512367" cy="3106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08042" y="59739"/>
            <a:ext cx="672661" cy="967766"/>
          </a:xfrm>
          <a:prstGeom prst="roundRect">
            <a:avLst>
              <a:gd name="adj" fmla="val 16098"/>
            </a:avLst>
          </a:prstGeom>
          <a:solidFill>
            <a:srgbClr val="FFFFFF"/>
          </a:solidFill>
          <a:ln w="12700">
            <a:solidFill>
              <a:srgbClr val="544F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44176" y="131426"/>
            <a:ext cx="408401" cy="394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360914"/>
            <a:r>
              <a:rPr lang="en-US" sz="868" dirty="0">
                <a:solidFill>
                  <a:srgbClr val="202020"/>
                </a:solidFill>
                <a:latin typeface="Calibri" panose="020F0502020204030204"/>
              </a:rPr>
              <a:t>PoPS (%)</a:t>
            </a:r>
            <a:endParaRPr lang="en-US" sz="868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176" y="573492"/>
            <a:ext cx="184181" cy="1015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19699" y="1099192"/>
            <a:ext cx="2242204" cy="298693"/>
          </a:xfrm>
          <a:prstGeom prst="rect">
            <a:avLst/>
          </a:prstGeom>
          <a:solidFill>
            <a:srgbClr val="FBFBFB"/>
          </a:solidFill>
          <a:ln>
            <a:solidFill>
              <a:srgbClr val="151515"/>
            </a:solidFill>
            <a:prstDash val="solid"/>
          </a:ln>
        </p:spPr>
        <p:txBody>
          <a:bodyPr vert="horz" wrap="square" rtlCol="0" anchor="ctr"/>
          <a:lstStyle/>
          <a:p>
            <a:pPr algn="ctr" defTabSz="360914"/>
            <a:r>
              <a:rPr lang="en-US" sz="868" dirty="0">
                <a:solidFill>
                  <a:srgbClr val="000000"/>
                </a:solidFill>
                <a:latin typeface="Calibri" panose="020F0502020204030204"/>
              </a:rPr>
              <a:t>Pillar 1: Drug Exposure at Site of Action​</a:t>
            </a:r>
            <a:endParaRPr lang="en-US" sz="8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025965" y="1099192"/>
            <a:ext cx="2242204" cy="298693"/>
          </a:xfrm>
          <a:prstGeom prst="rect">
            <a:avLst/>
          </a:prstGeom>
          <a:solidFill>
            <a:srgbClr val="FBFBFB"/>
          </a:solidFill>
          <a:ln>
            <a:solidFill>
              <a:srgbClr val="151515"/>
            </a:solidFill>
            <a:prstDash val="solid"/>
          </a:ln>
        </p:spPr>
        <p:txBody>
          <a:bodyPr vert="horz" wrap="square" rtlCol="0" anchor="ctr"/>
          <a:lstStyle/>
          <a:p>
            <a:pPr algn="ctr" defTabSz="360914"/>
            <a:r>
              <a:rPr lang="en-US" sz="868" dirty="0">
                <a:solidFill>
                  <a:srgbClr val="000000"/>
                </a:solidFill>
                <a:latin typeface="Calibri" panose="020F0502020204030204"/>
              </a:rPr>
              <a:t>Pillar 2: Target Binding</a:t>
            </a:r>
            <a:endParaRPr lang="en-US" sz="8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332232" y="1099192"/>
            <a:ext cx="2242204" cy="298693"/>
          </a:xfrm>
          <a:prstGeom prst="rect">
            <a:avLst/>
          </a:prstGeom>
          <a:solidFill>
            <a:srgbClr val="FBFBFB"/>
          </a:solidFill>
          <a:ln>
            <a:solidFill>
              <a:srgbClr val="151515"/>
            </a:solidFill>
            <a:prstDash val="solid"/>
          </a:ln>
        </p:spPr>
        <p:txBody>
          <a:bodyPr vert="horz" wrap="square" rtlCol="0" anchor="ctr"/>
          <a:lstStyle/>
          <a:p>
            <a:pPr algn="ctr" defTabSz="360914"/>
            <a:r>
              <a:rPr lang="en-US" sz="868" dirty="0">
                <a:solidFill>
                  <a:srgbClr val="000000"/>
                </a:solidFill>
                <a:latin typeface="Calibri" panose="020F0502020204030204"/>
              </a:rPr>
              <a:t>Pillar 3: Functional Pharmacology​</a:t>
            </a:r>
            <a:endParaRPr lang="en-US" sz="8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646507" y="1099192"/>
            <a:ext cx="2242204" cy="298693"/>
          </a:xfrm>
          <a:prstGeom prst="rect">
            <a:avLst/>
          </a:prstGeom>
          <a:solidFill>
            <a:srgbClr val="FBFBFB"/>
          </a:solidFill>
          <a:ln>
            <a:solidFill>
              <a:srgbClr val="151515"/>
            </a:solidFill>
            <a:prstDash val="solid"/>
          </a:ln>
        </p:spPr>
        <p:txBody>
          <a:bodyPr vert="horz" wrap="square" rtlCol="0" anchor="ctr"/>
          <a:lstStyle/>
          <a:p>
            <a:pPr algn="ctr" defTabSz="360914"/>
            <a:r>
              <a:rPr lang="en-US" sz="868" dirty="0">
                <a:solidFill>
                  <a:srgbClr val="000000"/>
                </a:solidFill>
                <a:latin typeface="Calibri" panose="020F0502020204030204"/>
              </a:rPr>
              <a:t>Pillar 4: Disease Relevant Endpoints</a:t>
            </a:r>
            <a:endParaRPr lang="en-US" sz="8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303289" y="1457624"/>
            <a:ext cx="320315" cy="2060984"/>
          </a:xfrm>
          <a:prstGeom prst="rect">
            <a:avLst/>
          </a:prstGeom>
          <a:solidFill>
            <a:srgbClr val="FBFBFB"/>
          </a:solidFill>
          <a:ln>
            <a:solidFill>
              <a:srgbClr val="151515"/>
            </a:solidFill>
            <a:prstDash val="solid"/>
          </a:ln>
        </p:spPr>
        <p:txBody>
          <a:bodyPr vert="vert270" wrap="square" rtlCol="0" anchor="ctr"/>
          <a:lstStyle/>
          <a:p>
            <a:pPr algn="ctr" defTabSz="360914"/>
            <a:r>
              <a:rPr lang="en-US" sz="710" dirty="0">
                <a:solidFill>
                  <a:srgbClr val="000000"/>
                </a:solidFill>
                <a:latin typeface="Calibri" panose="020F0502020204030204"/>
              </a:rPr>
              <a:t>Non-Clinical​</a:t>
            </a:r>
            <a:endParaRPr lang="en-US" sz="7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303289" y="3590294"/>
            <a:ext cx="320315" cy="1965403"/>
          </a:xfrm>
          <a:prstGeom prst="rect">
            <a:avLst/>
          </a:prstGeom>
          <a:solidFill>
            <a:srgbClr val="FBFBFB"/>
          </a:solidFill>
          <a:ln>
            <a:solidFill>
              <a:srgbClr val="151515"/>
            </a:solidFill>
            <a:prstDash val="solid"/>
          </a:ln>
        </p:spPr>
        <p:txBody>
          <a:bodyPr vert="vert270" wrap="square" rtlCol="0" anchor="ctr"/>
          <a:lstStyle/>
          <a:p>
            <a:pPr algn="ctr" defTabSz="360914"/>
            <a:r>
              <a:rPr lang="en-US" sz="710" dirty="0">
                <a:solidFill>
                  <a:srgbClr val="000000"/>
                </a:solidFill>
                <a:latin typeface="Calibri" panose="020F0502020204030204"/>
              </a:rPr>
              <a:t>Clinical​</a:t>
            </a:r>
            <a:endParaRPr lang="en-US" sz="7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1719699" y="1457624"/>
            <a:ext cx="2242204" cy="2060984"/>
          </a:xfrm>
          <a:prstGeom prst="roundRect">
            <a:avLst>
              <a:gd name="adj" fmla="val 5254"/>
            </a:avLst>
          </a:prstGeom>
          <a:solidFill>
            <a:srgbClr val="FFFFFF"/>
          </a:solidFill>
          <a:ln w="12700">
            <a:solidFill>
              <a:srgbClr val="544F4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55833" y="3267705"/>
            <a:ext cx="584574" cy="185190"/>
          </a:xfrm>
          <a:prstGeom prst="rect">
            <a:avLst/>
          </a:prstGeom>
          <a:solidFill>
            <a:srgbClr val="008A00">
              <a:alpha val="50000"/>
            </a:srgbClr>
          </a:solidFill>
          <a:ln/>
        </p:spPr>
        <p:txBody>
          <a:bodyPr wrap="square" rtlCol="0" anchor="ctr"/>
          <a:lstStyle/>
          <a:p>
            <a:pPr defTabSz="360914"/>
            <a:r>
              <a:rPr lang="en-US" sz="710" dirty="0">
                <a:solidFill>
                  <a:srgbClr val="008A00"/>
                </a:solidFill>
                <a:latin typeface="Calibri" panose="020F0502020204030204"/>
              </a:rPr>
              <a:t>Green</a:t>
            </a:r>
            <a:endParaRPr lang="en-US" sz="7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025965" y="1457624"/>
            <a:ext cx="2242204" cy="2060984"/>
          </a:xfrm>
          <a:prstGeom prst="roundRect">
            <a:avLst>
              <a:gd name="adj" fmla="val 5254"/>
            </a:avLst>
          </a:prstGeom>
          <a:solidFill>
            <a:srgbClr val="FFFFFF"/>
          </a:solidFill>
          <a:ln w="12700">
            <a:solidFill>
              <a:srgbClr val="544F4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62100" y="3267705"/>
            <a:ext cx="584574" cy="185190"/>
          </a:xfrm>
          <a:prstGeom prst="rect">
            <a:avLst/>
          </a:prstGeom>
          <a:solidFill>
            <a:srgbClr val="008A00">
              <a:alpha val="50000"/>
            </a:srgbClr>
          </a:solidFill>
          <a:ln/>
        </p:spPr>
        <p:txBody>
          <a:bodyPr wrap="square" rtlCol="0" anchor="ctr"/>
          <a:lstStyle/>
          <a:p>
            <a:pPr defTabSz="360914"/>
            <a:r>
              <a:rPr lang="en-US" sz="710" dirty="0">
                <a:solidFill>
                  <a:srgbClr val="008A00"/>
                </a:solidFill>
                <a:latin typeface="Calibri" panose="020F0502020204030204"/>
              </a:rPr>
              <a:t>Green</a:t>
            </a:r>
            <a:endParaRPr lang="en-US" sz="7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332232" y="1457624"/>
            <a:ext cx="2242204" cy="2060984"/>
          </a:xfrm>
          <a:prstGeom prst="roundRect">
            <a:avLst>
              <a:gd name="adj" fmla="val 5254"/>
            </a:avLst>
          </a:prstGeom>
          <a:solidFill>
            <a:srgbClr val="FFFFFF"/>
          </a:solidFill>
          <a:ln w="12700">
            <a:solidFill>
              <a:srgbClr val="544F4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68366" y="3267705"/>
            <a:ext cx="616606" cy="185190"/>
          </a:xfrm>
          <a:prstGeom prst="rect">
            <a:avLst/>
          </a:prstGeom>
          <a:solidFill>
            <a:srgbClr val="FFB800">
              <a:alpha val="50000"/>
            </a:srgbClr>
          </a:solidFill>
          <a:ln/>
        </p:spPr>
        <p:txBody>
          <a:bodyPr wrap="square" rtlCol="0" anchor="ctr"/>
          <a:lstStyle/>
          <a:p>
            <a:pPr defTabSz="360914"/>
            <a:r>
              <a:rPr lang="en-US" sz="710" dirty="0">
                <a:solidFill>
                  <a:srgbClr val="FFB800"/>
                </a:solidFill>
                <a:latin typeface="Calibri" panose="020F0502020204030204"/>
              </a:rPr>
              <a:t>Amber</a:t>
            </a:r>
            <a:endParaRPr lang="en-US" sz="7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8646507" y="1457624"/>
            <a:ext cx="2242204" cy="2060984"/>
          </a:xfrm>
          <a:prstGeom prst="roundRect">
            <a:avLst>
              <a:gd name="adj" fmla="val 5254"/>
            </a:avLst>
          </a:prstGeom>
          <a:solidFill>
            <a:srgbClr val="FFFFFF"/>
          </a:solidFill>
          <a:ln w="12700">
            <a:solidFill>
              <a:srgbClr val="544F4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774633" y="3267705"/>
            <a:ext cx="584574" cy="185190"/>
          </a:xfrm>
          <a:prstGeom prst="rect">
            <a:avLst/>
          </a:prstGeom>
          <a:solidFill>
            <a:srgbClr val="008A00">
              <a:alpha val="50000"/>
            </a:srgbClr>
          </a:solidFill>
          <a:ln/>
        </p:spPr>
        <p:txBody>
          <a:bodyPr wrap="square" rtlCol="0" anchor="ctr"/>
          <a:lstStyle/>
          <a:p>
            <a:pPr defTabSz="360914"/>
            <a:r>
              <a:rPr lang="en-US" sz="710" dirty="0">
                <a:solidFill>
                  <a:srgbClr val="008A00"/>
                </a:solidFill>
                <a:latin typeface="Calibri" panose="020F0502020204030204"/>
              </a:rPr>
              <a:t>Green</a:t>
            </a:r>
            <a:endParaRPr lang="en-US" sz="7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1719699" y="3590294"/>
            <a:ext cx="2242204" cy="1965403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12700">
            <a:solidFill>
              <a:srgbClr val="544F4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855833" y="5304795"/>
            <a:ext cx="584574" cy="185190"/>
          </a:xfrm>
          <a:prstGeom prst="rect">
            <a:avLst/>
          </a:prstGeom>
          <a:solidFill>
            <a:srgbClr val="008A00">
              <a:alpha val="50000"/>
            </a:srgbClr>
          </a:solidFill>
          <a:ln/>
        </p:spPr>
        <p:txBody>
          <a:bodyPr wrap="square" rtlCol="0" anchor="ctr"/>
          <a:lstStyle/>
          <a:p>
            <a:pPr defTabSz="360914"/>
            <a:r>
              <a:rPr lang="en-US" sz="710" dirty="0">
                <a:solidFill>
                  <a:srgbClr val="008A00"/>
                </a:solidFill>
                <a:latin typeface="Calibri" panose="020F0502020204030204"/>
              </a:rPr>
              <a:t>Green</a:t>
            </a:r>
            <a:endParaRPr lang="en-US" sz="7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4025965" y="3590294"/>
            <a:ext cx="2242204" cy="1965403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12700">
            <a:solidFill>
              <a:srgbClr val="544F4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162100" y="5304795"/>
            <a:ext cx="400393" cy="185190"/>
          </a:xfrm>
          <a:prstGeom prst="rect">
            <a:avLst/>
          </a:prstGeom>
          <a:solidFill>
            <a:srgbClr val="E40030">
              <a:alpha val="50000"/>
            </a:srgbClr>
          </a:solidFill>
          <a:ln/>
        </p:spPr>
        <p:txBody>
          <a:bodyPr wrap="square" rtlCol="0" anchor="ctr"/>
          <a:lstStyle/>
          <a:p>
            <a:pPr defTabSz="360914"/>
            <a:r>
              <a:rPr lang="en-US" sz="710" dirty="0">
                <a:solidFill>
                  <a:srgbClr val="E40030"/>
                </a:solidFill>
                <a:latin typeface="Calibri" panose="020F0502020204030204"/>
              </a:rPr>
              <a:t>Red</a:t>
            </a:r>
            <a:endParaRPr lang="en-US" sz="7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6332232" y="3590294"/>
            <a:ext cx="2242204" cy="1965403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12700">
            <a:solidFill>
              <a:srgbClr val="544F4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68366" y="5304795"/>
            <a:ext cx="616606" cy="185190"/>
          </a:xfrm>
          <a:prstGeom prst="rect">
            <a:avLst/>
          </a:prstGeom>
          <a:solidFill>
            <a:srgbClr val="FFB800">
              <a:alpha val="50000"/>
            </a:srgbClr>
          </a:solidFill>
          <a:ln/>
        </p:spPr>
        <p:txBody>
          <a:bodyPr wrap="square" rtlCol="0" anchor="ctr"/>
          <a:lstStyle/>
          <a:p>
            <a:pPr defTabSz="360914"/>
            <a:r>
              <a:rPr lang="en-US" sz="710" dirty="0">
                <a:solidFill>
                  <a:srgbClr val="FFB800"/>
                </a:solidFill>
                <a:latin typeface="Calibri" panose="020F0502020204030204"/>
              </a:rPr>
              <a:t>Amber</a:t>
            </a:r>
            <a:endParaRPr lang="en-US" sz="7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8646507" y="3590294"/>
            <a:ext cx="2242204" cy="1965403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12700">
            <a:solidFill>
              <a:srgbClr val="544F4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774633" y="5304795"/>
            <a:ext cx="616606" cy="185190"/>
          </a:xfrm>
          <a:prstGeom prst="rect">
            <a:avLst/>
          </a:prstGeom>
          <a:solidFill>
            <a:srgbClr val="FFB800">
              <a:alpha val="50000"/>
            </a:srgbClr>
          </a:solidFill>
          <a:ln/>
        </p:spPr>
        <p:txBody>
          <a:bodyPr wrap="square" rtlCol="0" anchor="ctr"/>
          <a:lstStyle/>
          <a:p>
            <a:pPr defTabSz="360914"/>
            <a:r>
              <a:rPr lang="en-US" sz="710" dirty="0">
                <a:solidFill>
                  <a:srgbClr val="FFB800"/>
                </a:solidFill>
                <a:latin typeface="Calibri" panose="020F0502020204030204"/>
              </a:rPr>
              <a:t>Amber</a:t>
            </a:r>
            <a:endParaRPr lang="en-US" sz="71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5832" y="1517362"/>
            <a:ext cx="1977944" cy="1535284"/>
          </a:xfrm>
          <a:prstGeom prst="rect">
            <a:avLst/>
          </a:prstGeom>
        </p:spPr>
      </p:pic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2099" y="1517363"/>
            <a:ext cx="1977944" cy="1487493"/>
          </a:xfrm>
          <a:prstGeom prst="rect">
            <a:avLst/>
          </a:prstGeom>
        </p:spPr>
      </p:pic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8366" y="1517362"/>
            <a:ext cx="1977944" cy="1535284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4633" y="1517363"/>
            <a:ext cx="1977944" cy="1296329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5832" y="3650033"/>
            <a:ext cx="1977944" cy="1296329"/>
          </a:xfrm>
          <a:prstGeom prst="rect">
            <a:avLst/>
          </a:prstGeom>
        </p:spPr>
      </p:pic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2099" y="3650033"/>
            <a:ext cx="1977944" cy="1296329"/>
          </a:xfrm>
          <a:prstGeom prst="rect">
            <a:avLst/>
          </a:prstGeom>
        </p:spPr>
      </p:pic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8366" y="3650034"/>
            <a:ext cx="1977944" cy="1391911"/>
          </a:xfrm>
          <a:prstGeom prst="rect">
            <a:avLst/>
          </a:prstGeom>
        </p:spPr>
      </p:pic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74633" y="3650034"/>
            <a:ext cx="1977944" cy="1248538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1303289" y="5651279"/>
            <a:ext cx="9585422" cy="1146983"/>
          </a:xfrm>
          <a:prstGeom prst="roundRect">
            <a:avLst>
              <a:gd name="adj" fmla="val 9441"/>
            </a:avLst>
          </a:prstGeom>
          <a:solidFill>
            <a:srgbClr val="FFFFFF"/>
          </a:solidFill>
          <a:ln w="12700">
            <a:solidFill>
              <a:srgbClr val="544F40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1439423" y="5734913"/>
            <a:ext cx="2186149" cy="197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360914"/>
            <a:r>
              <a:rPr lang="en-US" sz="868" dirty="0">
                <a:solidFill>
                  <a:srgbClr val="202020"/>
                </a:solidFill>
                <a:latin typeface="Calibri" panose="020F0502020204030204"/>
              </a:rPr>
              <a:t>Pillar 5: Precision Medicine</a:t>
            </a:r>
            <a:endParaRPr lang="en-US" sz="8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29"/>
          <p:cNvSpPr/>
          <p:nvPr/>
        </p:nvSpPr>
        <p:spPr>
          <a:xfrm>
            <a:off x="1439423" y="6547359"/>
            <a:ext cx="616606" cy="185190"/>
          </a:xfrm>
          <a:prstGeom prst="rect">
            <a:avLst/>
          </a:prstGeom>
          <a:solidFill>
            <a:srgbClr val="FFB800">
              <a:alpha val="50000"/>
            </a:srgbClr>
          </a:solidFill>
          <a:ln/>
        </p:spPr>
        <p:txBody>
          <a:bodyPr wrap="square" rtlCol="0" anchor="ctr"/>
          <a:lstStyle/>
          <a:p>
            <a:pPr defTabSz="360914"/>
            <a:r>
              <a:rPr lang="en-US" sz="710" dirty="0">
                <a:solidFill>
                  <a:srgbClr val="FFB800"/>
                </a:solidFill>
                <a:latin typeface="Calibri" panose="020F0502020204030204"/>
              </a:rPr>
              <a:t>Amber</a:t>
            </a:r>
            <a:endParaRPr lang="en-US" sz="71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9423" y="6003737"/>
            <a:ext cx="9313154" cy="4062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45481</TotalTime>
  <Words>590</Words>
  <Application>Microsoft Office PowerPoint</Application>
  <PresentationFormat>Widescreen</PresentationFormat>
  <Paragraphs>239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Valeriu Damian</dc:creator>
  <cp:lastModifiedBy>Shayoni Dutta</cp:lastModifiedBy>
  <cp:revision>5</cp:revision>
  <dcterms:created xsi:type="dcterms:W3CDTF">2023-05-18T16:38:38Z</dcterms:created>
  <dcterms:modified xsi:type="dcterms:W3CDTF">2023-09-01T12:18:44Z</dcterms:modified>
</cp:coreProperties>
</file>